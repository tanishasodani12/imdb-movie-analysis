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8288000" cy="10287000"/>
  <p:notesSz cx="6858000" cy="9144000"/>
  <p:embeddedFontLst>
    <p:embeddedFont>
      <p:font typeface="Now" panose="020B0604020202020204" charset="0"/>
      <p:regular r:id="rId24"/>
    </p:embeddedFont>
    <p:embeddedFont>
      <p:font typeface="Now Bold" panose="020B0604020202020204" charset="0"/>
      <p:regular r:id="rId25"/>
    </p:embeddedFont>
    <p:embeddedFont>
      <p:font typeface="Raleway Bold"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1" d="100"/>
          <a:sy n="31" d="100"/>
        </p:scale>
        <p:origin x="1042"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419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91000"/>
              </a:srgbClr>
            </a:gs>
            <a:gs pos="100000">
              <a:srgbClr val="33285C">
                <a:alpha val="100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1028700" y="462264"/>
            <a:ext cx="16230600" cy="3892556"/>
          </a:xfrm>
          <a:prstGeom prst="rect">
            <a:avLst/>
          </a:prstGeom>
        </p:spPr>
        <p:txBody>
          <a:bodyPr lIns="0" tIns="0" rIns="0" bIns="0" rtlCol="0" anchor="t">
            <a:spAutoFit/>
          </a:bodyPr>
          <a:lstStyle/>
          <a:p>
            <a:pPr algn="ctr">
              <a:lnSpc>
                <a:spcPts val="15399"/>
              </a:lnSpc>
            </a:pPr>
            <a:r>
              <a:rPr lang="en-US" sz="10999" b="1">
                <a:solidFill>
                  <a:srgbClr val="D9D9D9"/>
                </a:solidFill>
                <a:latin typeface="Raleway Bold"/>
                <a:ea typeface="Raleway Bold"/>
                <a:cs typeface="Raleway Bold"/>
                <a:sym typeface="Raleway Bold"/>
              </a:rPr>
              <a:t>IMDB MOVIE ANALYSIS</a:t>
            </a:r>
          </a:p>
          <a:p>
            <a:pPr algn="ctr">
              <a:lnSpc>
                <a:spcPts val="6999"/>
              </a:lnSpc>
            </a:pPr>
            <a:r>
              <a:rPr lang="en-US" sz="6999" b="1">
                <a:solidFill>
                  <a:srgbClr val="D9D9D9"/>
                </a:solidFill>
                <a:latin typeface="Raleway Bold"/>
                <a:ea typeface="Raleway Bold"/>
                <a:cs typeface="Raleway Bold"/>
                <a:sym typeface="Raleway Bold"/>
              </a:rPr>
              <a:t>Final Project – 1</a:t>
            </a:r>
          </a:p>
          <a:p>
            <a:pPr algn="ctr">
              <a:lnSpc>
                <a:spcPts val="6999"/>
              </a:lnSpc>
            </a:pPr>
            <a:endParaRPr lang="en-US" sz="6999" b="1">
              <a:solidFill>
                <a:srgbClr val="D9D9D9"/>
              </a:solidFill>
              <a:latin typeface="Raleway Bold"/>
              <a:ea typeface="Raleway Bold"/>
              <a:cs typeface="Raleway Bold"/>
              <a:sym typeface="Raleway Bold"/>
            </a:endParaRPr>
          </a:p>
        </p:txBody>
      </p:sp>
      <p:grpSp>
        <p:nvGrpSpPr>
          <p:cNvPr id="3" name="Group 3"/>
          <p:cNvGrpSpPr/>
          <p:nvPr/>
        </p:nvGrpSpPr>
        <p:grpSpPr>
          <a:xfrm>
            <a:off x="1028700" y="4031521"/>
            <a:ext cx="16230600" cy="3859530"/>
            <a:chOff x="0" y="0"/>
            <a:chExt cx="21640800" cy="5146041"/>
          </a:xfrm>
        </p:grpSpPr>
        <p:sp>
          <p:nvSpPr>
            <p:cNvPr id="4" name="TextBox 4"/>
            <p:cNvSpPr txBox="1"/>
            <p:nvPr/>
          </p:nvSpPr>
          <p:spPr>
            <a:xfrm>
              <a:off x="0" y="-123825"/>
              <a:ext cx="21640800" cy="1056005"/>
            </a:xfrm>
            <a:prstGeom prst="rect">
              <a:avLst/>
            </a:prstGeom>
          </p:spPr>
          <p:txBody>
            <a:bodyPr lIns="0" tIns="0" rIns="0" bIns="0" rtlCol="0" anchor="t">
              <a:spAutoFit/>
            </a:bodyPr>
            <a:lstStyle/>
            <a:p>
              <a:pPr algn="l">
                <a:lnSpc>
                  <a:spcPts val="6899"/>
                </a:lnSpc>
              </a:pPr>
              <a:r>
                <a:rPr lang="en-US" sz="4599">
                  <a:solidFill>
                    <a:srgbClr val="D9D9D9"/>
                  </a:solidFill>
                  <a:latin typeface="Now"/>
                  <a:ea typeface="Now"/>
                  <a:cs typeface="Now"/>
                  <a:sym typeface="Now"/>
                </a:rPr>
                <a:t>SUBMITTED BY</a:t>
              </a:r>
              <a:r>
                <a:rPr lang="en-US" sz="4599" b="1">
                  <a:solidFill>
                    <a:srgbClr val="D9D9D9"/>
                  </a:solidFill>
                  <a:latin typeface="Now Bold"/>
                  <a:ea typeface="Now Bold"/>
                  <a:cs typeface="Now Bold"/>
                  <a:sym typeface="Now Bold"/>
                </a:rPr>
                <a:t>: Tanisha Sodani</a:t>
              </a:r>
            </a:p>
          </p:txBody>
        </p:sp>
        <p:sp>
          <p:nvSpPr>
            <p:cNvPr id="5" name="TextBox 5"/>
            <p:cNvSpPr txBox="1"/>
            <p:nvPr/>
          </p:nvSpPr>
          <p:spPr>
            <a:xfrm>
              <a:off x="0" y="1290955"/>
              <a:ext cx="21640800" cy="1045845"/>
            </a:xfrm>
            <a:prstGeom prst="rect">
              <a:avLst/>
            </a:prstGeom>
          </p:spPr>
          <p:txBody>
            <a:bodyPr lIns="0" tIns="0" rIns="0" bIns="0" rtlCol="0" anchor="t">
              <a:spAutoFit/>
            </a:bodyPr>
            <a:lstStyle/>
            <a:p>
              <a:pPr algn="l">
                <a:lnSpc>
                  <a:spcPts val="6899"/>
                </a:lnSpc>
              </a:pPr>
              <a:r>
                <a:rPr lang="en-US" sz="4599">
                  <a:solidFill>
                    <a:srgbClr val="D9D9D9"/>
                  </a:solidFill>
                  <a:latin typeface="Now"/>
                  <a:ea typeface="Now"/>
                  <a:cs typeface="Now"/>
                  <a:sym typeface="Now"/>
                </a:rPr>
                <a:t>COURSE: Data Analytics – Trainity</a:t>
              </a:r>
            </a:p>
          </p:txBody>
        </p:sp>
        <p:sp>
          <p:nvSpPr>
            <p:cNvPr id="6" name="TextBox 6"/>
            <p:cNvSpPr txBox="1"/>
            <p:nvPr/>
          </p:nvSpPr>
          <p:spPr>
            <a:xfrm>
              <a:off x="0" y="2695575"/>
              <a:ext cx="21640800" cy="1045845"/>
            </a:xfrm>
            <a:prstGeom prst="rect">
              <a:avLst/>
            </a:prstGeom>
          </p:spPr>
          <p:txBody>
            <a:bodyPr lIns="0" tIns="0" rIns="0" bIns="0" rtlCol="0" anchor="t">
              <a:spAutoFit/>
            </a:bodyPr>
            <a:lstStyle/>
            <a:p>
              <a:pPr algn="l">
                <a:lnSpc>
                  <a:spcPts val="6899"/>
                </a:lnSpc>
              </a:pPr>
              <a:r>
                <a:rPr lang="en-US" sz="4599">
                  <a:solidFill>
                    <a:srgbClr val="D9D9D9"/>
                  </a:solidFill>
                  <a:latin typeface="Now"/>
                  <a:ea typeface="Now"/>
                  <a:cs typeface="Now"/>
                  <a:sym typeface="Now"/>
                </a:rPr>
                <a:t>TOOLS USED: Microsoft Excel 2021</a:t>
              </a:r>
            </a:p>
          </p:txBody>
        </p:sp>
        <p:sp>
          <p:nvSpPr>
            <p:cNvPr id="7" name="TextBox 7"/>
            <p:cNvSpPr txBox="1"/>
            <p:nvPr/>
          </p:nvSpPr>
          <p:spPr>
            <a:xfrm>
              <a:off x="0" y="4100195"/>
              <a:ext cx="21640800" cy="1045845"/>
            </a:xfrm>
            <a:prstGeom prst="rect">
              <a:avLst/>
            </a:prstGeom>
          </p:spPr>
          <p:txBody>
            <a:bodyPr lIns="0" tIns="0" rIns="0" bIns="0" rtlCol="0" anchor="t">
              <a:spAutoFit/>
            </a:bodyPr>
            <a:lstStyle/>
            <a:p>
              <a:pPr algn="l">
                <a:lnSpc>
                  <a:spcPts val="6899"/>
                </a:lnSpc>
              </a:pPr>
              <a:r>
                <a:rPr lang="en-US" sz="4599">
                  <a:solidFill>
                    <a:srgbClr val="D9D9D9"/>
                  </a:solidFill>
                  <a:latin typeface="Now"/>
                  <a:ea typeface="Now"/>
                  <a:cs typeface="Now"/>
                  <a:sym typeface="Now"/>
                </a:rPr>
                <a:t>DATE: JULY 19, 2025</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91000"/>
              </a:srgbClr>
            </a:gs>
            <a:gs pos="100000">
              <a:srgbClr val="33285C">
                <a:alpha val="100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1028700" y="819150"/>
            <a:ext cx="16230600" cy="1360170"/>
          </a:xfrm>
          <a:prstGeom prst="rect">
            <a:avLst/>
          </a:prstGeom>
        </p:spPr>
        <p:txBody>
          <a:bodyPr lIns="0" tIns="0" rIns="0" bIns="0" rtlCol="0" anchor="t">
            <a:spAutoFit/>
          </a:bodyPr>
          <a:lstStyle/>
          <a:p>
            <a:pPr algn="ctr">
              <a:lnSpc>
                <a:spcPts val="11250"/>
              </a:lnSpc>
              <a:spcBef>
                <a:spcPct val="0"/>
              </a:spcBef>
            </a:pPr>
            <a:r>
              <a:rPr lang="en-US" sz="7500" b="1">
                <a:solidFill>
                  <a:srgbClr val="FFFFFF"/>
                </a:solidFill>
                <a:latin typeface="Now Bold"/>
                <a:ea typeface="Now Bold"/>
                <a:cs typeface="Now Bold"/>
                <a:sym typeface="Now Bold"/>
              </a:rPr>
              <a:t>CONTENTS</a:t>
            </a:r>
          </a:p>
        </p:txBody>
      </p:sp>
      <p:sp>
        <p:nvSpPr>
          <p:cNvPr id="3" name="TextBox 3"/>
          <p:cNvSpPr txBox="1"/>
          <p:nvPr/>
        </p:nvSpPr>
        <p:spPr>
          <a:xfrm>
            <a:off x="1028700" y="2558769"/>
            <a:ext cx="16230600" cy="5886451"/>
          </a:xfrm>
          <a:prstGeom prst="rect">
            <a:avLst/>
          </a:prstGeom>
        </p:spPr>
        <p:txBody>
          <a:bodyPr lIns="0" tIns="0" rIns="0" bIns="0" rtlCol="0" anchor="t">
            <a:spAutoFit/>
          </a:bodyPr>
          <a:lstStyle/>
          <a:p>
            <a:pPr marL="971542" lvl="1" indent="-485771" algn="l">
              <a:lnSpc>
                <a:spcPts val="6749"/>
              </a:lnSpc>
              <a:buFont typeface="Arial"/>
              <a:buChar char="•"/>
            </a:pPr>
            <a:r>
              <a:rPr lang="en-US" sz="4499">
                <a:solidFill>
                  <a:srgbClr val="FFFFFF"/>
                </a:solidFill>
                <a:latin typeface="Now"/>
                <a:ea typeface="Now"/>
                <a:cs typeface="Now"/>
                <a:sym typeface="Now"/>
              </a:rPr>
              <a:t>PROJECT DESCRIPTION</a:t>
            </a:r>
          </a:p>
          <a:p>
            <a:pPr marL="971542" lvl="1" indent="-485771" algn="l">
              <a:lnSpc>
                <a:spcPts val="6749"/>
              </a:lnSpc>
              <a:buFont typeface="Arial"/>
              <a:buChar char="•"/>
            </a:pPr>
            <a:r>
              <a:rPr lang="en-US" sz="4499">
                <a:solidFill>
                  <a:srgbClr val="FFFFFF"/>
                </a:solidFill>
                <a:latin typeface="Now"/>
                <a:ea typeface="Now"/>
                <a:cs typeface="Now"/>
                <a:sym typeface="Now"/>
              </a:rPr>
              <a:t>APPROACH</a:t>
            </a:r>
          </a:p>
          <a:p>
            <a:pPr marL="971542" lvl="1" indent="-485771" algn="l">
              <a:lnSpc>
                <a:spcPts val="6749"/>
              </a:lnSpc>
              <a:buFont typeface="Arial"/>
              <a:buChar char="•"/>
            </a:pPr>
            <a:r>
              <a:rPr lang="en-US" sz="4499">
                <a:solidFill>
                  <a:srgbClr val="FFFFFF"/>
                </a:solidFill>
                <a:latin typeface="Now"/>
                <a:ea typeface="Now"/>
                <a:cs typeface="Now"/>
                <a:sym typeface="Now"/>
              </a:rPr>
              <a:t>TECH-STACK USED</a:t>
            </a:r>
          </a:p>
          <a:p>
            <a:pPr marL="971542" lvl="1" indent="-485771" algn="l">
              <a:lnSpc>
                <a:spcPts val="6749"/>
              </a:lnSpc>
              <a:buFont typeface="Arial"/>
              <a:buChar char="•"/>
            </a:pPr>
            <a:r>
              <a:rPr lang="en-US" sz="4499">
                <a:solidFill>
                  <a:srgbClr val="FFFFFF"/>
                </a:solidFill>
                <a:latin typeface="Now"/>
                <a:ea typeface="Now"/>
                <a:cs typeface="Now"/>
                <a:sym typeface="Now"/>
              </a:rPr>
              <a:t>DATA CLEANING &amp; PREPROCESSING</a:t>
            </a:r>
          </a:p>
          <a:p>
            <a:pPr marL="971542" lvl="1" indent="-485771" algn="l">
              <a:lnSpc>
                <a:spcPts val="6749"/>
              </a:lnSpc>
              <a:buFont typeface="Arial"/>
              <a:buChar char="•"/>
            </a:pPr>
            <a:r>
              <a:rPr lang="en-US" sz="4499">
                <a:solidFill>
                  <a:srgbClr val="FFFFFF"/>
                </a:solidFill>
                <a:latin typeface="Now"/>
                <a:ea typeface="Now"/>
                <a:cs typeface="Now"/>
                <a:sym typeface="Now"/>
              </a:rPr>
              <a:t>DATA ANALYTICS TASKS</a:t>
            </a:r>
          </a:p>
          <a:p>
            <a:pPr marL="971542" lvl="1" indent="-485771" algn="l">
              <a:lnSpc>
                <a:spcPts val="6749"/>
              </a:lnSpc>
              <a:buFont typeface="Arial"/>
              <a:buChar char="•"/>
            </a:pPr>
            <a:r>
              <a:rPr lang="en-US" sz="4499">
                <a:solidFill>
                  <a:srgbClr val="FFFFFF"/>
                </a:solidFill>
                <a:latin typeface="Now"/>
                <a:ea typeface="Now"/>
                <a:cs typeface="Now"/>
                <a:sym typeface="Now"/>
              </a:rPr>
              <a:t>INSIGHTS</a:t>
            </a:r>
          </a:p>
          <a:p>
            <a:pPr marL="971542" lvl="1" indent="-485771" algn="l">
              <a:lnSpc>
                <a:spcPts val="6749"/>
              </a:lnSpc>
              <a:buFont typeface="Arial"/>
              <a:buChar char="•"/>
            </a:pPr>
            <a:r>
              <a:rPr lang="en-US" sz="4499">
                <a:solidFill>
                  <a:srgbClr val="FFFFFF"/>
                </a:solidFill>
                <a:latin typeface="Now"/>
                <a:ea typeface="Now"/>
                <a:cs typeface="Now"/>
                <a:sym typeface="Now"/>
              </a:rPr>
              <a:t>RESULT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91000"/>
              </a:srgbClr>
            </a:gs>
            <a:gs pos="100000">
              <a:srgbClr val="33285C">
                <a:alpha val="100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1028700" y="819150"/>
            <a:ext cx="16230600" cy="1360170"/>
          </a:xfrm>
          <a:prstGeom prst="rect">
            <a:avLst/>
          </a:prstGeom>
        </p:spPr>
        <p:txBody>
          <a:bodyPr lIns="0" tIns="0" rIns="0" bIns="0" rtlCol="0" anchor="t">
            <a:spAutoFit/>
          </a:bodyPr>
          <a:lstStyle/>
          <a:p>
            <a:pPr algn="ctr">
              <a:lnSpc>
                <a:spcPts val="11250"/>
              </a:lnSpc>
              <a:spcBef>
                <a:spcPct val="0"/>
              </a:spcBef>
            </a:pPr>
            <a:r>
              <a:rPr lang="en-US" sz="7500" b="1">
                <a:solidFill>
                  <a:srgbClr val="FDFEFE"/>
                </a:solidFill>
                <a:latin typeface="Now Bold"/>
                <a:ea typeface="Now Bold"/>
                <a:cs typeface="Now Bold"/>
                <a:sym typeface="Now Bold"/>
              </a:rPr>
              <a:t> PROJECT DESCRIPTION</a:t>
            </a:r>
          </a:p>
        </p:txBody>
      </p:sp>
      <p:sp>
        <p:nvSpPr>
          <p:cNvPr id="3" name="TextBox 3"/>
          <p:cNvSpPr txBox="1"/>
          <p:nvPr/>
        </p:nvSpPr>
        <p:spPr>
          <a:xfrm>
            <a:off x="1028700" y="2683969"/>
            <a:ext cx="16230600" cy="5541645"/>
          </a:xfrm>
          <a:prstGeom prst="rect">
            <a:avLst/>
          </a:prstGeom>
        </p:spPr>
        <p:txBody>
          <a:bodyPr lIns="0" tIns="0" rIns="0" bIns="0" rtlCol="0" anchor="t">
            <a:spAutoFit/>
          </a:bodyPr>
          <a:lstStyle/>
          <a:p>
            <a:pPr algn="l">
              <a:lnSpc>
                <a:spcPts val="4949"/>
              </a:lnSpc>
              <a:spcBef>
                <a:spcPct val="0"/>
              </a:spcBef>
            </a:pPr>
            <a:r>
              <a:rPr lang="en-US" sz="3299">
                <a:solidFill>
                  <a:srgbClr val="D9D9D9"/>
                </a:solidFill>
                <a:latin typeface="Now"/>
                <a:ea typeface="Now"/>
                <a:cs typeface="Now"/>
                <a:sym typeface="Now"/>
              </a:rPr>
              <a:t>This project explores key factors influencing the success of movies on IMDB. The goal was to analyze the dataset using Excel to identify trends in ratings, genres, durations, languages, directors, and budgets.</a:t>
            </a:r>
          </a:p>
          <a:p>
            <a:pPr algn="l">
              <a:lnSpc>
                <a:spcPts val="4949"/>
              </a:lnSpc>
              <a:spcBef>
                <a:spcPct val="0"/>
              </a:spcBef>
            </a:pPr>
            <a:r>
              <a:rPr lang="en-US" sz="3299">
                <a:solidFill>
                  <a:srgbClr val="D9D9D9"/>
                </a:solidFill>
                <a:latin typeface="Now"/>
                <a:ea typeface="Now"/>
                <a:cs typeface="Now"/>
                <a:sym typeface="Now"/>
              </a:rPr>
              <a:t>The approach included:</a:t>
            </a:r>
          </a:p>
          <a:p>
            <a:pPr marL="712468" lvl="1" indent="-356234" algn="l">
              <a:lnSpc>
                <a:spcPts val="4949"/>
              </a:lnSpc>
              <a:buFont typeface="Arial"/>
              <a:buChar char="•"/>
            </a:pPr>
            <a:r>
              <a:rPr lang="en-US" sz="3299">
                <a:solidFill>
                  <a:srgbClr val="D9D9D9"/>
                </a:solidFill>
                <a:latin typeface="Now"/>
                <a:ea typeface="Now"/>
                <a:cs typeface="Now"/>
                <a:sym typeface="Now"/>
              </a:rPr>
              <a:t>Data cleaning &amp; preprocessing</a:t>
            </a:r>
          </a:p>
          <a:p>
            <a:pPr marL="712468" lvl="1" indent="-356234" algn="l">
              <a:lnSpc>
                <a:spcPts val="4949"/>
              </a:lnSpc>
              <a:buFont typeface="Arial"/>
              <a:buChar char="•"/>
            </a:pPr>
            <a:r>
              <a:rPr lang="en-US" sz="3299">
                <a:solidFill>
                  <a:srgbClr val="D9D9D9"/>
                </a:solidFill>
                <a:latin typeface="Now"/>
                <a:ea typeface="Now"/>
                <a:cs typeface="Now"/>
                <a:sym typeface="Now"/>
              </a:rPr>
              <a:t>Descriptive statistics &amp; Pivot Tables</a:t>
            </a:r>
          </a:p>
          <a:p>
            <a:pPr marL="712468" lvl="1" indent="-356234" algn="l">
              <a:lnSpc>
                <a:spcPts val="4949"/>
              </a:lnSpc>
              <a:buFont typeface="Arial"/>
              <a:buChar char="•"/>
            </a:pPr>
            <a:r>
              <a:rPr lang="en-US" sz="3299">
                <a:solidFill>
                  <a:srgbClr val="D9D9D9"/>
                </a:solidFill>
                <a:latin typeface="Now"/>
                <a:ea typeface="Now"/>
                <a:cs typeface="Now"/>
                <a:sym typeface="Now"/>
              </a:rPr>
              <a:t>Visualization using charts and correlation analysis</a:t>
            </a:r>
          </a:p>
          <a:p>
            <a:pPr algn="l">
              <a:lnSpc>
                <a:spcPts val="4949"/>
              </a:lnSpc>
              <a:spcBef>
                <a:spcPct val="0"/>
              </a:spcBef>
            </a:pPr>
            <a:r>
              <a:rPr lang="en-US" sz="3299">
                <a:solidFill>
                  <a:srgbClr val="D9D9D9"/>
                </a:solidFill>
                <a:latin typeface="Now"/>
                <a:ea typeface="Now"/>
                <a:cs typeface="Now"/>
                <a:sym typeface="Now"/>
              </a:rPr>
              <a:t>The insights help stakeholders understand what drives higher ratings and profits.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91000"/>
              </a:srgbClr>
            </a:gs>
            <a:gs pos="100000">
              <a:srgbClr val="33285C">
                <a:alpha val="100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1028700" y="819150"/>
            <a:ext cx="16230600" cy="1360170"/>
          </a:xfrm>
          <a:prstGeom prst="rect">
            <a:avLst/>
          </a:prstGeom>
        </p:spPr>
        <p:txBody>
          <a:bodyPr lIns="0" tIns="0" rIns="0" bIns="0" rtlCol="0" anchor="t">
            <a:spAutoFit/>
          </a:bodyPr>
          <a:lstStyle/>
          <a:p>
            <a:pPr algn="ctr">
              <a:lnSpc>
                <a:spcPts val="11250"/>
              </a:lnSpc>
              <a:spcBef>
                <a:spcPct val="0"/>
              </a:spcBef>
            </a:pPr>
            <a:r>
              <a:rPr lang="en-US" sz="7500" b="1">
                <a:solidFill>
                  <a:srgbClr val="FDFEFE"/>
                </a:solidFill>
                <a:latin typeface="Now Bold"/>
                <a:ea typeface="Now Bold"/>
                <a:cs typeface="Now Bold"/>
                <a:sym typeface="Now Bold"/>
              </a:rPr>
              <a:t>APPROACH</a:t>
            </a:r>
          </a:p>
        </p:txBody>
      </p:sp>
      <p:sp>
        <p:nvSpPr>
          <p:cNvPr id="3" name="TextBox 3"/>
          <p:cNvSpPr txBox="1"/>
          <p:nvPr/>
        </p:nvSpPr>
        <p:spPr>
          <a:xfrm>
            <a:off x="1028700" y="2618324"/>
            <a:ext cx="16230600" cy="6160770"/>
          </a:xfrm>
          <a:prstGeom prst="rect">
            <a:avLst/>
          </a:prstGeom>
        </p:spPr>
        <p:txBody>
          <a:bodyPr lIns="0" tIns="0" rIns="0" bIns="0" rtlCol="0" anchor="t">
            <a:spAutoFit/>
          </a:bodyPr>
          <a:lstStyle/>
          <a:p>
            <a:pPr marL="712468" lvl="1" indent="-356234" algn="l">
              <a:lnSpc>
                <a:spcPts val="4949"/>
              </a:lnSpc>
              <a:buFont typeface="Arial"/>
              <a:buChar char="•"/>
            </a:pPr>
            <a:r>
              <a:rPr lang="en-US" sz="3299">
                <a:solidFill>
                  <a:srgbClr val="D9D9D9"/>
                </a:solidFill>
                <a:latin typeface="Now"/>
                <a:ea typeface="Now"/>
                <a:cs typeface="Now"/>
                <a:sym typeface="Now"/>
              </a:rPr>
              <a:t>Used Microsoft Excel (2021) for all analysis and visualizations</a:t>
            </a:r>
          </a:p>
          <a:p>
            <a:pPr marL="712468" lvl="1" indent="-356234" algn="l">
              <a:lnSpc>
                <a:spcPts val="4949"/>
              </a:lnSpc>
              <a:buFont typeface="Arial"/>
              <a:buChar char="•"/>
            </a:pPr>
            <a:r>
              <a:rPr lang="en-US" sz="3299">
                <a:solidFill>
                  <a:srgbClr val="D9D9D9"/>
                </a:solidFill>
                <a:latin typeface="Now"/>
                <a:ea typeface="Now"/>
                <a:cs typeface="Now"/>
                <a:sym typeface="Now"/>
              </a:rPr>
              <a:t>Applied Power Query to clean data and split multi-value columns (e.g., genres)</a:t>
            </a:r>
          </a:p>
          <a:p>
            <a:pPr marL="712468" lvl="1" indent="-356234" algn="l">
              <a:lnSpc>
                <a:spcPts val="4949"/>
              </a:lnSpc>
              <a:buFont typeface="Arial"/>
              <a:buChar char="•"/>
            </a:pPr>
            <a:r>
              <a:rPr lang="en-US" sz="3299">
                <a:solidFill>
                  <a:srgbClr val="D9D9D9"/>
                </a:solidFill>
                <a:latin typeface="Now"/>
                <a:ea typeface="Now"/>
                <a:cs typeface="Now"/>
                <a:sym typeface="Now"/>
              </a:rPr>
              <a:t>Handled missing values using techniques like median imputation and removal</a:t>
            </a:r>
          </a:p>
          <a:p>
            <a:pPr marL="712468" lvl="1" indent="-356234" algn="l">
              <a:lnSpc>
                <a:spcPts val="4949"/>
              </a:lnSpc>
              <a:buFont typeface="Arial"/>
              <a:buChar char="•"/>
            </a:pPr>
            <a:r>
              <a:rPr lang="en-US" sz="3299">
                <a:solidFill>
                  <a:srgbClr val="D9D9D9"/>
                </a:solidFill>
                <a:latin typeface="Now"/>
                <a:ea typeface="Now"/>
                <a:cs typeface="Now"/>
                <a:sym typeface="Now"/>
              </a:rPr>
              <a:t>Created Pivot Tables, used functions like AVERAGE, MEDIAN, MODE, STDEV, CORREL, and PERCENTILE</a:t>
            </a:r>
          </a:p>
          <a:p>
            <a:pPr marL="712468" lvl="1" indent="-356234" algn="l">
              <a:lnSpc>
                <a:spcPts val="4949"/>
              </a:lnSpc>
              <a:buFont typeface="Arial"/>
              <a:buChar char="•"/>
            </a:pPr>
            <a:r>
              <a:rPr lang="en-US" sz="3299">
                <a:solidFill>
                  <a:srgbClr val="D9D9D9"/>
                </a:solidFill>
                <a:latin typeface="Now"/>
                <a:ea typeface="Now"/>
                <a:cs typeface="Now"/>
                <a:sym typeface="Now"/>
              </a:rPr>
              <a:t>Built visualizations (scatter plots, trendlines) to understand relationships</a:t>
            </a:r>
          </a:p>
          <a:p>
            <a:pPr marL="712468" lvl="1" indent="-356234" algn="l">
              <a:lnSpc>
                <a:spcPts val="4949"/>
              </a:lnSpc>
              <a:buFont typeface="Arial"/>
              <a:buChar char="•"/>
            </a:pPr>
            <a:r>
              <a:rPr lang="en-US" sz="3299">
                <a:solidFill>
                  <a:srgbClr val="D9D9D9"/>
                </a:solidFill>
                <a:latin typeface="Now"/>
                <a:ea typeface="Now"/>
                <a:cs typeface="Now"/>
                <a:sym typeface="Now"/>
              </a:rPr>
              <a:t>Performed task-wise analysis (A to E) and extracted insights based on each category.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91000"/>
              </a:srgbClr>
            </a:gs>
            <a:gs pos="100000">
              <a:srgbClr val="33285C">
                <a:alpha val="100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1028700" y="819150"/>
            <a:ext cx="16230600" cy="1360170"/>
          </a:xfrm>
          <a:prstGeom prst="rect">
            <a:avLst/>
          </a:prstGeom>
        </p:spPr>
        <p:txBody>
          <a:bodyPr lIns="0" tIns="0" rIns="0" bIns="0" rtlCol="0" anchor="t">
            <a:spAutoFit/>
          </a:bodyPr>
          <a:lstStyle/>
          <a:p>
            <a:pPr algn="ctr">
              <a:lnSpc>
                <a:spcPts val="11250"/>
              </a:lnSpc>
              <a:spcBef>
                <a:spcPct val="0"/>
              </a:spcBef>
            </a:pPr>
            <a:r>
              <a:rPr lang="en-US" sz="7500" b="1">
                <a:solidFill>
                  <a:srgbClr val="FFFFFF"/>
                </a:solidFill>
                <a:latin typeface="Now Bold"/>
                <a:ea typeface="Now Bold"/>
                <a:cs typeface="Now Bold"/>
                <a:sym typeface="Now Bold"/>
              </a:rPr>
              <a:t>TECH-STACK USED</a:t>
            </a:r>
          </a:p>
        </p:txBody>
      </p:sp>
      <p:sp>
        <p:nvSpPr>
          <p:cNvPr id="3" name="TextBox 3"/>
          <p:cNvSpPr txBox="1"/>
          <p:nvPr/>
        </p:nvSpPr>
        <p:spPr>
          <a:xfrm>
            <a:off x="1028700" y="3099435"/>
            <a:ext cx="16230600" cy="3992880"/>
          </a:xfrm>
          <a:prstGeom prst="rect">
            <a:avLst/>
          </a:prstGeom>
        </p:spPr>
        <p:txBody>
          <a:bodyPr lIns="0" tIns="0" rIns="0" bIns="0" rtlCol="0" anchor="t">
            <a:spAutoFit/>
          </a:bodyPr>
          <a:lstStyle/>
          <a:p>
            <a:pPr algn="l">
              <a:lnSpc>
                <a:spcPts val="5549"/>
              </a:lnSpc>
              <a:spcBef>
                <a:spcPct val="0"/>
              </a:spcBef>
            </a:pPr>
            <a:r>
              <a:rPr lang="en-US" sz="3699" b="1" u="sng">
                <a:solidFill>
                  <a:srgbClr val="D9D9D9"/>
                </a:solidFill>
                <a:latin typeface="Now Bold"/>
                <a:ea typeface="Now Bold"/>
                <a:cs typeface="Now Bold"/>
                <a:sym typeface="Now Bold"/>
              </a:rPr>
              <a:t>Microsoft Excel 2021</a:t>
            </a:r>
          </a:p>
          <a:p>
            <a:pPr algn="l">
              <a:lnSpc>
                <a:spcPts val="5249"/>
              </a:lnSpc>
              <a:spcBef>
                <a:spcPct val="0"/>
              </a:spcBef>
            </a:pPr>
            <a:r>
              <a:rPr lang="en-US" sz="3499">
                <a:solidFill>
                  <a:srgbClr val="D9D9D9"/>
                </a:solidFill>
                <a:latin typeface="Now"/>
                <a:ea typeface="Now"/>
                <a:cs typeface="Now"/>
                <a:sym typeface="Now"/>
              </a:rPr>
              <a:t> Used for data cleaning, transformation, statistical analysis, Pivot Tables, and visualizations.</a:t>
            </a:r>
          </a:p>
          <a:p>
            <a:pPr algn="l">
              <a:lnSpc>
                <a:spcPts val="5549"/>
              </a:lnSpc>
              <a:spcBef>
                <a:spcPct val="0"/>
              </a:spcBef>
            </a:pPr>
            <a:r>
              <a:rPr lang="en-US" sz="3699" b="1" u="sng">
                <a:solidFill>
                  <a:srgbClr val="D9D9D9"/>
                </a:solidFill>
                <a:latin typeface="Now Bold"/>
                <a:ea typeface="Now Bold"/>
                <a:cs typeface="Now Bold"/>
                <a:sym typeface="Now Bold"/>
              </a:rPr>
              <a:t>Power Query (Excel Add-in)</a:t>
            </a:r>
          </a:p>
          <a:p>
            <a:pPr algn="l">
              <a:lnSpc>
                <a:spcPts val="5249"/>
              </a:lnSpc>
              <a:spcBef>
                <a:spcPct val="0"/>
              </a:spcBef>
            </a:pPr>
            <a:r>
              <a:rPr lang="en-US" sz="3499">
                <a:solidFill>
                  <a:srgbClr val="D9D9D9"/>
                </a:solidFill>
                <a:latin typeface="Now"/>
                <a:ea typeface="Now"/>
                <a:cs typeface="Now"/>
                <a:sym typeface="Now"/>
              </a:rPr>
              <a:t> Used to split multi-value columns (e.g., genres) and reshape data efficiently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91000"/>
              </a:srgbClr>
            </a:gs>
            <a:gs pos="100000">
              <a:srgbClr val="33285C">
                <a:alpha val="100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1028700" y="488096"/>
            <a:ext cx="16230600" cy="1179197"/>
          </a:xfrm>
          <a:prstGeom prst="rect">
            <a:avLst/>
          </a:prstGeom>
        </p:spPr>
        <p:txBody>
          <a:bodyPr lIns="0" tIns="0" rIns="0" bIns="0" rtlCol="0" anchor="t">
            <a:spAutoFit/>
          </a:bodyPr>
          <a:lstStyle/>
          <a:p>
            <a:pPr algn="ctr">
              <a:lnSpc>
                <a:spcPts val="9749"/>
              </a:lnSpc>
              <a:spcBef>
                <a:spcPct val="0"/>
              </a:spcBef>
            </a:pPr>
            <a:r>
              <a:rPr lang="en-US" sz="6499" b="1">
                <a:solidFill>
                  <a:srgbClr val="FDFEFE"/>
                </a:solidFill>
                <a:latin typeface="Now Bold"/>
                <a:ea typeface="Now Bold"/>
                <a:cs typeface="Now Bold"/>
                <a:sym typeface="Now Bold"/>
              </a:rPr>
              <a:t>DATA CLEANING &amp; PREPROCESSING</a:t>
            </a:r>
          </a:p>
        </p:txBody>
      </p:sp>
      <p:sp>
        <p:nvSpPr>
          <p:cNvPr id="3" name="TextBox 3"/>
          <p:cNvSpPr txBox="1"/>
          <p:nvPr/>
        </p:nvSpPr>
        <p:spPr>
          <a:xfrm>
            <a:off x="1028700" y="2777463"/>
            <a:ext cx="16230600" cy="6144260"/>
          </a:xfrm>
          <a:prstGeom prst="rect">
            <a:avLst/>
          </a:prstGeom>
        </p:spPr>
        <p:txBody>
          <a:bodyPr lIns="0" tIns="0" rIns="0" bIns="0" rtlCol="0" anchor="t">
            <a:spAutoFit/>
          </a:bodyPr>
          <a:lstStyle/>
          <a:p>
            <a:pPr marL="604521" lvl="1" indent="-302261" algn="l">
              <a:lnSpc>
                <a:spcPts val="4480"/>
              </a:lnSpc>
              <a:buFont typeface="Arial"/>
              <a:buChar char="•"/>
            </a:pPr>
            <a:r>
              <a:rPr lang="en-US" sz="2800">
                <a:solidFill>
                  <a:srgbClr val="D9D9D9"/>
                </a:solidFill>
                <a:latin typeface="Now"/>
                <a:ea typeface="Now"/>
                <a:cs typeface="Now"/>
                <a:sym typeface="Now"/>
              </a:rPr>
              <a:t>Removed 45 duplicate rows using Excel’s built-in feature</a:t>
            </a:r>
          </a:p>
          <a:p>
            <a:pPr marL="604521" lvl="1" indent="-302261" algn="l">
              <a:lnSpc>
                <a:spcPts val="4480"/>
              </a:lnSpc>
              <a:buFont typeface="Arial"/>
              <a:buChar char="•"/>
            </a:pPr>
            <a:r>
              <a:rPr lang="en-US" sz="2800">
                <a:solidFill>
                  <a:srgbClr val="D9D9D9"/>
                </a:solidFill>
                <a:latin typeface="Now"/>
                <a:ea typeface="Now"/>
                <a:cs typeface="Now"/>
                <a:sym typeface="Now"/>
              </a:rPr>
              <a:t>Deleted 5 rows with both budget and gross missing — not useful for financial analysis</a:t>
            </a:r>
          </a:p>
          <a:p>
            <a:pPr marL="604521" lvl="1" indent="-302261" algn="l">
              <a:lnSpc>
                <a:spcPts val="4480"/>
              </a:lnSpc>
              <a:buFont typeface="Arial"/>
              <a:buChar char="•"/>
            </a:pPr>
            <a:r>
              <a:rPr lang="en-US" sz="2800">
                <a:solidFill>
                  <a:srgbClr val="D9D9D9"/>
                </a:solidFill>
                <a:latin typeface="Now"/>
                <a:ea typeface="Now"/>
                <a:cs typeface="Now"/>
                <a:sym typeface="Now"/>
              </a:rPr>
              <a:t>Filled 14 blank color entries with "Color" (most common value)</a:t>
            </a:r>
          </a:p>
          <a:p>
            <a:pPr marL="604521" lvl="1" indent="-302261" algn="l">
              <a:lnSpc>
                <a:spcPts val="4480"/>
              </a:lnSpc>
              <a:buFont typeface="Arial"/>
              <a:buChar char="•"/>
            </a:pPr>
            <a:r>
              <a:rPr lang="en-US" sz="2800">
                <a:solidFill>
                  <a:srgbClr val="D9D9D9"/>
                </a:solidFill>
                <a:latin typeface="Now"/>
                <a:ea typeface="Now"/>
                <a:cs typeface="Now"/>
                <a:sym typeface="Now"/>
              </a:rPr>
              <a:t>Handled 12 rows with both color and gross missing — retained for non-financial analysis</a:t>
            </a:r>
          </a:p>
          <a:p>
            <a:pPr marL="604521" lvl="1" indent="-302261" algn="l">
              <a:lnSpc>
                <a:spcPts val="4480"/>
              </a:lnSpc>
              <a:buFont typeface="Arial"/>
              <a:buChar char="•"/>
            </a:pPr>
            <a:r>
              <a:rPr lang="en-US" sz="2800">
                <a:solidFill>
                  <a:srgbClr val="D9D9D9"/>
                </a:solidFill>
                <a:latin typeface="Now"/>
                <a:ea typeface="Now"/>
                <a:cs typeface="Now"/>
                <a:sym typeface="Now"/>
              </a:rPr>
              <a:t>Retained 101 rows with missing director_name — excluded from Director-based insights</a:t>
            </a:r>
          </a:p>
          <a:p>
            <a:pPr marL="604521" lvl="1" indent="-302261" algn="l">
              <a:lnSpc>
                <a:spcPts val="4480"/>
              </a:lnSpc>
              <a:buFont typeface="Arial"/>
              <a:buChar char="•"/>
            </a:pPr>
            <a:r>
              <a:rPr lang="en-US" sz="2800">
                <a:solidFill>
                  <a:srgbClr val="D9D9D9"/>
                </a:solidFill>
                <a:latin typeface="Now"/>
                <a:ea typeface="Now"/>
                <a:cs typeface="Now"/>
                <a:sym typeface="Now"/>
              </a:rPr>
              <a:t>Filled blanks in num_critic_for_reviews, duration, facebook_likes, etc. using median</a:t>
            </a:r>
          </a:p>
          <a:p>
            <a:pPr marL="604521" lvl="1" indent="-302261" algn="l">
              <a:lnSpc>
                <a:spcPts val="4480"/>
              </a:lnSpc>
              <a:buFont typeface="Arial"/>
              <a:buChar char="•"/>
            </a:pPr>
            <a:r>
              <a:rPr lang="en-US" sz="2800">
                <a:solidFill>
                  <a:srgbClr val="D9D9D9"/>
                </a:solidFill>
                <a:latin typeface="Now"/>
                <a:ea typeface="Now"/>
                <a:cs typeface="Now"/>
                <a:sym typeface="Now"/>
              </a:rPr>
              <a:t>Missing country, language, content_rating filled with "Unknown" or "Unrated"</a:t>
            </a:r>
          </a:p>
          <a:p>
            <a:pPr marL="604521" lvl="1" indent="-302261" algn="l">
              <a:lnSpc>
                <a:spcPts val="4480"/>
              </a:lnSpc>
              <a:buFont typeface="Arial"/>
              <a:buChar char="•"/>
            </a:pPr>
            <a:r>
              <a:rPr lang="en-US" sz="2800">
                <a:solidFill>
                  <a:srgbClr val="D9D9D9"/>
                </a:solidFill>
                <a:latin typeface="Now"/>
                <a:ea typeface="Now"/>
                <a:cs typeface="Now"/>
                <a:sym typeface="Now"/>
              </a:rPr>
              <a:t>Retained blanks in gross, budget, title_year, aspect_ratio — excluded from specific tasks</a:t>
            </a:r>
          </a:p>
          <a:p>
            <a:pPr marL="604521" lvl="1" indent="-302261" algn="l">
              <a:lnSpc>
                <a:spcPts val="4480"/>
              </a:lnSpc>
              <a:buFont typeface="Arial"/>
              <a:buChar char="•"/>
            </a:pPr>
            <a:r>
              <a:rPr lang="en-US" sz="2800">
                <a:solidFill>
                  <a:srgbClr val="D9D9D9"/>
                </a:solidFill>
                <a:latin typeface="Now"/>
                <a:ea typeface="Now"/>
                <a:cs typeface="Now"/>
                <a:sym typeface="Now"/>
              </a:rPr>
              <a:t>Corrected 51 invalid aspect_ratio values:</a:t>
            </a:r>
          </a:p>
          <a:p>
            <a:pPr marL="1209042" lvl="2" indent="-403014" algn="l">
              <a:lnSpc>
                <a:spcPts val="4480"/>
              </a:lnSpc>
              <a:buFont typeface="Arial"/>
              <a:buChar char="⚬"/>
            </a:pPr>
            <a:r>
              <a:rPr lang="en-US" sz="2800">
                <a:solidFill>
                  <a:srgbClr val="D9D9D9"/>
                </a:solidFill>
                <a:latin typeface="Now"/>
                <a:ea typeface="Now"/>
                <a:cs typeface="Now"/>
                <a:sym typeface="Now"/>
              </a:rPr>
              <a:t>4 → 1.33</a:t>
            </a:r>
          </a:p>
          <a:p>
            <a:pPr marL="1209042" lvl="2" indent="-403014" algn="l">
              <a:lnSpc>
                <a:spcPts val="4480"/>
              </a:lnSpc>
              <a:buFont typeface="Arial"/>
              <a:buChar char="⚬"/>
            </a:pPr>
            <a:r>
              <a:rPr lang="en-US" sz="2800">
                <a:solidFill>
                  <a:srgbClr val="D9D9D9"/>
                </a:solidFill>
                <a:latin typeface="Now"/>
                <a:ea typeface="Now"/>
                <a:cs typeface="Now"/>
                <a:sym typeface="Now"/>
              </a:rPr>
              <a:t>16 → 1.78</a:t>
            </a:r>
          </a:p>
        </p:txBody>
      </p:sp>
      <p:sp>
        <p:nvSpPr>
          <p:cNvPr id="4" name="TextBox 4"/>
          <p:cNvSpPr txBox="1"/>
          <p:nvPr/>
        </p:nvSpPr>
        <p:spPr>
          <a:xfrm>
            <a:off x="1028700" y="1950916"/>
            <a:ext cx="16230600" cy="552450"/>
          </a:xfrm>
          <a:prstGeom prst="rect">
            <a:avLst/>
          </a:prstGeom>
        </p:spPr>
        <p:txBody>
          <a:bodyPr lIns="0" tIns="0" rIns="0" bIns="0" rtlCol="0" anchor="t">
            <a:spAutoFit/>
          </a:bodyPr>
          <a:lstStyle/>
          <a:p>
            <a:pPr algn="l">
              <a:lnSpc>
                <a:spcPts val="4500"/>
              </a:lnSpc>
              <a:spcBef>
                <a:spcPct val="0"/>
              </a:spcBef>
            </a:pPr>
            <a:r>
              <a:rPr lang="en-US" sz="3000">
                <a:solidFill>
                  <a:srgbClr val="D9D9D9"/>
                </a:solidFill>
                <a:latin typeface="Now"/>
                <a:ea typeface="Now"/>
                <a:cs typeface="Now"/>
                <a:sym typeface="Now"/>
              </a:rPr>
              <a:t>Performed the following cleaning steps to prepare the dataset for analysis: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91000"/>
              </a:srgbClr>
            </a:gs>
            <a:gs pos="100000">
              <a:srgbClr val="33285C">
                <a:alpha val="100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1668839" y="3543300"/>
            <a:ext cx="14950321" cy="2010102"/>
          </a:xfrm>
          <a:prstGeom prst="rect">
            <a:avLst/>
          </a:prstGeom>
        </p:spPr>
        <p:txBody>
          <a:bodyPr lIns="0" tIns="0" rIns="0" bIns="0" rtlCol="0" anchor="t">
            <a:spAutoFit/>
          </a:bodyPr>
          <a:lstStyle/>
          <a:p>
            <a:pPr algn="ctr">
              <a:lnSpc>
                <a:spcPts val="16499"/>
              </a:lnSpc>
              <a:spcBef>
                <a:spcPct val="0"/>
              </a:spcBef>
            </a:pPr>
            <a:r>
              <a:rPr lang="en-US" sz="10999" b="1" dirty="0">
                <a:solidFill>
                  <a:srgbClr val="FDFEFE"/>
                </a:solidFill>
                <a:latin typeface="Now Bold"/>
                <a:ea typeface="Now Bold"/>
                <a:cs typeface="Now Bold"/>
                <a:sym typeface="Now Bold"/>
              </a:rPr>
              <a:t>Data </a:t>
            </a:r>
            <a:r>
              <a:rPr lang="en-US" sz="9600" b="1" dirty="0">
                <a:solidFill>
                  <a:srgbClr val="FDFEFE"/>
                </a:solidFill>
                <a:latin typeface="Now Bold"/>
                <a:ea typeface="Now Bold"/>
                <a:cs typeface="Now Bold"/>
                <a:sym typeface="Now Bold"/>
              </a:rPr>
              <a:t>Analytics Tasks</a:t>
            </a:r>
            <a:r>
              <a:rPr lang="en-US" sz="10999" b="1" dirty="0">
                <a:solidFill>
                  <a:srgbClr val="FDFEFE"/>
                </a:solidFill>
                <a:latin typeface="Now Bold"/>
                <a:ea typeface="Now Bold"/>
                <a:cs typeface="Now Bold"/>
                <a:sym typeface="Now Bold"/>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91000"/>
              </a:srgbClr>
            </a:gs>
            <a:gs pos="100000">
              <a:srgbClr val="33285C">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2743813" y="4037724"/>
            <a:ext cx="3436135" cy="5322640"/>
          </a:xfrm>
          <a:custGeom>
            <a:avLst/>
            <a:gdLst/>
            <a:ahLst/>
            <a:cxnLst/>
            <a:rect l="l" t="t" r="r" b="b"/>
            <a:pathLst>
              <a:path w="3436135" h="5322640">
                <a:moveTo>
                  <a:pt x="0" y="0"/>
                </a:moveTo>
                <a:lnTo>
                  <a:pt x="3436135" y="0"/>
                </a:lnTo>
                <a:lnTo>
                  <a:pt x="3436135" y="5322640"/>
                </a:lnTo>
                <a:lnTo>
                  <a:pt x="0" y="5322640"/>
                </a:lnTo>
                <a:lnTo>
                  <a:pt x="0" y="0"/>
                </a:lnTo>
                <a:close/>
              </a:path>
            </a:pathLst>
          </a:custGeom>
          <a:blipFill>
            <a:blip r:embed="rId2"/>
            <a:stretch>
              <a:fillRect/>
            </a:stretch>
          </a:blipFill>
        </p:spPr>
      </p:sp>
      <p:sp>
        <p:nvSpPr>
          <p:cNvPr id="3" name="TextBox 3"/>
          <p:cNvSpPr txBox="1"/>
          <p:nvPr/>
        </p:nvSpPr>
        <p:spPr>
          <a:xfrm>
            <a:off x="1202400" y="490928"/>
            <a:ext cx="16056900" cy="1375377"/>
          </a:xfrm>
          <a:prstGeom prst="rect">
            <a:avLst/>
          </a:prstGeom>
        </p:spPr>
        <p:txBody>
          <a:bodyPr lIns="0" tIns="0" rIns="0" bIns="0" rtlCol="0" anchor="t">
            <a:spAutoFit/>
          </a:bodyPr>
          <a:lstStyle/>
          <a:p>
            <a:pPr algn="ctr">
              <a:lnSpc>
                <a:spcPts val="11250"/>
              </a:lnSpc>
              <a:spcBef>
                <a:spcPct val="0"/>
              </a:spcBef>
            </a:pPr>
            <a:r>
              <a:rPr lang="en-US" sz="7500" b="1" dirty="0">
                <a:solidFill>
                  <a:srgbClr val="FDFEFE"/>
                </a:solidFill>
                <a:latin typeface="Now Bold"/>
                <a:ea typeface="Now Bold"/>
                <a:cs typeface="Now Bold"/>
                <a:sym typeface="Now Bold"/>
              </a:rPr>
              <a:t> GENRE ANALYSIS</a:t>
            </a:r>
          </a:p>
        </p:txBody>
      </p:sp>
      <p:sp>
        <p:nvSpPr>
          <p:cNvPr id="4" name="TextBox 4"/>
          <p:cNvSpPr txBox="1"/>
          <p:nvPr/>
        </p:nvSpPr>
        <p:spPr>
          <a:xfrm>
            <a:off x="1028700" y="2312691"/>
            <a:ext cx="16230600" cy="1541145"/>
          </a:xfrm>
          <a:prstGeom prst="rect">
            <a:avLst/>
          </a:prstGeom>
        </p:spPr>
        <p:txBody>
          <a:bodyPr lIns="0" tIns="0" rIns="0" bIns="0" rtlCol="0" anchor="t">
            <a:spAutoFit/>
          </a:bodyPr>
          <a:lstStyle/>
          <a:p>
            <a:pPr algn="l">
              <a:lnSpc>
                <a:spcPts val="4199"/>
              </a:lnSpc>
              <a:spcBef>
                <a:spcPct val="0"/>
              </a:spcBef>
            </a:pPr>
            <a:r>
              <a:rPr lang="en-US" sz="2799" b="1" u="sng">
                <a:solidFill>
                  <a:srgbClr val="D9D9D9"/>
                </a:solidFill>
                <a:latin typeface="Now Bold"/>
                <a:ea typeface="Now Bold"/>
                <a:cs typeface="Now Bold"/>
                <a:sym typeface="Now Bold"/>
              </a:rPr>
              <a:t> Objective:</a:t>
            </a:r>
          </a:p>
          <a:p>
            <a:pPr algn="l">
              <a:lnSpc>
                <a:spcPts val="4199"/>
              </a:lnSpc>
              <a:spcBef>
                <a:spcPct val="0"/>
              </a:spcBef>
            </a:pPr>
            <a:r>
              <a:rPr lang="en-US" sz="2799">
                <a:solidFill>
                  <a:srgbClr val="D9D9D9"/>
                </a:solidFill>
                <a:latin typeface="Now"/>
                <a:ea typeface="Now"/>
                <a:cs typeface="Now"/>
                <a:sym typeface="Now"/>
              </a:rPr>
              <a:t>To analyze the distribution of movie genres and understand their impact on IMDB ratings using descriptive statistics.</a:t>
            </a:r>
          </a:p>
        </p:txBody>
      </p:sp>
      <p:sp>
        <p:nvSpPr>
          <p:cNvPr id="5" name="TextBox 5"/>
          <p:cNvSpPr txBox="1"/>
          <p:nvPr/>
        </p:nvSpPr>
        <p:spPr>
          <a:xfrm>
            <a:off x="1028700" y="4167267"/>
            <a:ext cx="9025147" cy="4684395"/>
          </a:xfrm>
          <a:prstGeom prst="rect">
            <a:avLst/>
          </a:prstGeom>
        </p:spPr>
        <p:txBody>
          <a:bodyPr lIns="0" tIns="0" rIns="0" bIns="0" rtlCol="0" anchor="t">
            <a:spAutoFit/>
          </a:bodyPr>
          <a:lstStyle/>
          <a:p>
            <a:pPr algn="l">
              <a:lnSpc>
                <a:spcPts val="4199"/>
              </a:lnSpc>
              <a:spcBef>
                <a:spcPct val="0"/>
              </a:spcBef>
            </a:pPr>
            <a:r>
              <a:rPr lang="en-US" sz="2799" b="1" u="sng">
                <a:solidFill>
                  <a:srgbClr val="D9D9D9"/>
                </a:solidFill>
                <a:latin typeface="Now Bold"/>
                <a:ea typeface="Now Bold"/>
                <a:cs typeface="Now Bold"/>
                <a:sym typeface="Now Bold"/>
              </a:rPr>
              <a:t>Approach:</a:t>
            </a:r>
          </a:p>
          <a:p>
            <a:pPr algn="l">
              <a:lnSpc>
                <a:spcPts val="4199"/>
              </a:lnSpc>
              <a:spcBef>
                <a:spcPct val="0"/>
              </a:spcBef>
            </a:pPr>
            <a:r>
              <a:rPr lang="en-US" sz="2799">
                <a:solidFill>
                  <a:srgbClr val="D9D9D9"/>
                </a:solidFill>
                <a:latin typeface="Now"/>
                <a:ea typeface="Now"/>
                <a:cs typeface="Now"/>
                <a:sym typeface="Now"/>
              </a:rPr>
              <a:t> • Used Power Query to split multi-genre movies into separate rows using the "|" delimiter</a:t>
            </a:r>
          </a:p>
          <a:p>
            <a:pPr algn="l">
              <a:lnSpc>
                <a:spcPts val="4199"/>
              </a:lnSpc>
              <a:spcBef>
                <a:spcPct val="0"/>
              </a:spcBef>
            </a:pPr>
            <a:r>
              <a:rPr lang="en-US" sz="2799">
                <a:solidFill>
                  <a:srgbClr val="D9D9D9"/>
                </a:solidFill>
                <a:latin typeface="Now"/>
                <a:ea typeface="Now"/>
                <a:cs typeface="Now"/>
                <a:sym typeface="Now"/>
              </a:rPr>
              <a:t> • Created a cleaned sheet with one genre per row linked to IMDB score</a:t>
            </a:r>
          </a:p>
          <a:p>
            <a:pPr algn="l">
              <a:lnSpc>
                <a:spcPts val="4199"/>
              </a:lnSpc>
              <a:spcBef>
                <a:spcPct val="0"/>
              </a:spcBef>
            </a:pPr>
            <a:r>
              <a:rPr lang="en-US" sz="2799">
                <a:solidFill>
                  <a:srgbClr val="D9D9D9"/>
                </a:solidFill>
                <a:latin typeface="Now"/>
                <a:ea typeface="Now"/>
                <a:cs typeface="Now"/>
                <a:sym typeface="Now"/>
              </a:rPr>
              <a:t> • Built a Pivot Table to calculate:</a:t>
            </a:r>
          </a:p>
          <a:p>
            <a:pPr marL="1209039" lvl="2" indent="-403013" algn="l">
              <a:lnSpc>
                <a:spcPts val="4199"/>
              </a:lnSpc>
              <a:buFont typeface="Arial"/>
              <a:buChar char="⚬"/>
            </a:pPr>
            <a:r>
              <a:rPr lang="en-US" sz="2799">
                <a:solidFill>
                  <a:srgbClr val="D9D9D9"/>
                </a:solidFill>
                <a:latin typeface="Now"/>
                <a:ea typeface="Now"/>
                <a:cs typeface="Now"/>
                <a:sym typeface="Now"/>
              </a:rPr>
              <a:t>Count, Average, Min, Max, Std Dev, Variance</a:t>
            </a:r>
          </a:p>
          <a:p>
            <a:pPr marL="1209039" lvl="2" indent="-403013" algn="l">
              <a:lnSpc>
                <a:spcPts val="4199"/>
              </a:lnSpc>
              <a:buFont typeface="Arial"/>
              <a:buChar char="⚬"/>
            </a:pPr>
            <a:r>
              <a:rPr lang="en-US" sz="2799">
                <a:solidFill>
                  <a:srgbClr val="D9D9D9"/>
                </a:solidFill>
                <a:latin typeface="Now"/>
                <a:ea typeface="Now"/>
                <a:cs typeface="Now"/>
                <a:sym typeface="Now"/>
              </a:rPr>
              <a:t> Used Excel formulas to manually calculate   Median and Mode for each genre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91000"/>
              </a:srgbClr>
            </a:gs>
            <a:gs pos="100000">
              <a:srgbClr val="33285C">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942773" y="3150863"/>
            <a:ext cx="14402455" cy="5887003"/>
          </a:xfrm>
          <a:custGeom>
            <a:avLst/>
            <a:gdLst/>
            <a:ahLst/>
            <a:cxnLst/>
            <a:rect l="l" t="t" r="r" b="b"/>
            <a:pathLst>
              <a:path w="14402455" h="5887003">
                <a:moveTo>
                  <a:pt x="0" y="0"/>
                </a:moveTo>
                <a:lnTo>
                  <a:pt x="14402454" y="0"/>
                </a:lnTo>
                <a:lnTo>
                  <a:pt x="14402454" y="5887004"/>
                </a:lnTo>
                <a:lnTo>
                  <a:pt x="0" y="5887004"/>
                </a:lnTo>
                <a:lnTo>
                  <a:pt x="0" y="0"/>
                </a:lnTo>
                <a:close/>
              </a:path>
            </a:pathLst>
          </a:custGeom>
          <a:blipFill>
            <a:blip r:embed="rId2"/>
            <a:stretch>
              <a:fillRect/>
            </a:stretch>
          </a:blipFill>
        </p:spPr>
      </p:sp>
      <p:sp>
        <p:nvSpPr>
          <p:cNvPr id="3" name="TextBox 3"/>
          <p:cNvSpPr txBox="1"/>
          <p:nvPr/>
        </p:nvSpPr>
        <p:spPr>
          <a:xfrm>
            <a:off x="1028700" y="31299"/>
            <a:ext cx="16230600" cy="2453639"/>
          </a:xfrm>
          <a:prstGeom prst="rect">
            <a:avLst/>
          </a:prstGeom>
        </p:spPr>
        <p:txBody>
          <a:bodyPr lIns="0" tIns="0" rIns="0" bIns="0" rtlCol="0" anchor="t">
            <a:spAutoFit/>
          </a:bodyPr>
          <a:lstStyle/>
          <a:p>
            <a:pPr algn="ctr">
              <a:lnSpc>
                <a:spcPts val="11250"/>
              </a:lnSpc>
              <a:spcBef>
                <a:spcPct val="0"/>
              </a:spcBef>
            </a:pPr>
            <a:r>
              <a:rPr lang="en-US" sz="7500" b="1">
                <a:solidFill>
                  <a:srgbClr val="FDFEFE"/>
                </a:solidFill>
                <a:latin typeface="Now Bold"/>
                <a:ea typeface="Now Bold"/>
                <a:cs typeface="Now Bold"/>
                <a:sym typeface="Now Bold"/>
              </a:rPr>
              <a:t> MOVIE GENRE ANALYSIS -</a:t>
            </a:r>
          </a:p>
          <a:p>
            <a:pPr algn="ctr">
              <a:lnSpc>
                <a:spcPts val="8250"/>
              </a:lnSpc>
              <a:spcBef>
                <a:spcPct val="0"/>
              </a:spcBef>
            </a:pPr>
            <a:r>
              <a:rPr lang="en-US" sz="5500" b="1">
                <a:solidFill>
                  <a:srgbClr val="FDFEFE"/>
                </a:solidFill>
                <a:latin typeface="Now Bold"/>
                <a:ea typeface="Now Bold"/>
                <a:cs typeface="Now Bold"/>
                <a:sym typeface="Now Bold"/>
              </a:rPr>
              <a:t>Statistical Summary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91000"/>
              </a:srgbClr>
            </a:gs>
            <a:gs pos="100000">
              <a:srgbClr val="33285C">
                <a:alpha val="100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1028700" y="596265"/>
            <a:ext cx="16230600" cy="1685290"/>
          </a:xfrm>
          <a:prstGeom prst="rect">
            <a:avLst/>
          </a:prstGeom>
        </p:spPr>
        <p:txBody>
          <a:bodyPr lIns="0" tIns="0" rIns="0" bIns="0" rtlCol="0" anchor="t">
            <a:spAutoFit/>
          </a:bodyPr>
          <a:lstStyle/>
          <a:p>
            <a:pPr algn="ctr">
              <a:lnSpc>
                <a:spcPts val="7500"/>
              </a:lnSpc>
            </a:pPr>
            <a:r>
              <a:rPr lang="en-US" sz="7500" b="1">
                <a:solidFill>
                  <a:srgbClr val="FDFEFE"/>
                </a:solidFill>
                <a:latin typeface="Now Bold"/>
                <a:ea typeface="Now Bold"/>
                <a:cs typeface="Now Bold"/>
                <a:sym typeface="Now Bold"/>
              </a:rPr>
              <a:t> MOVIE GENRE ANALYSIS -</a:t>
            </a:r>
          </a:p>
          <a:p>
            <a:pPr algn="ctr">
              <a:lnSpc>
                <a:spcPts val="5499"/>
              </a:lnSpc>
            </a:pPr>
            <a:r>
              <a:rPr lang="en-US" sz="5499" b="1">
                <a:solidFill>
                  <a:srgbClr val="FDFEFE"/>
                </a:solidFill>
                <a:latin typeface="Now Bold"/>
                <a:ea typeface="Now Bold"/>
                <a:cs typeface="Now Bold"/>
                <a:sym typeface="Now Bold"/>
              </a:rPr>
              <a:t> Insights &amp; Conclusion</a:t>
            </a:r>
          </a:p>
        </p:txBody>
      </p:sp>
      <p:sp>
        <p:nvSpPr>
          <p:cNvPr id="3" name="TextBox 3"/>
          <p:cNvSpPr txBox="1"/>
          <p:nvPr/>
        </p:nvSpPr>
        <p:spPr>
          <a:xfrm>
            <a:off x="1028700" y="2186305"/>
            <a:ext cx="16230600" cy="5093970"/>
          </a:xfrm>
          <a:prstGeom prst="rect">
            <a:avLst/>
          </a:prstGeom>
        </p:spPr>
        <p:txBody>
          <a:bodyPr lIns="0" tIns="0" rIns="0" bIns="0" rtlCol="0" anchor="t">
            <a:spAutoFit/>
          </a:bodyPr>
          <a:lstStyle/>
          <a:p>
            <a:pPr algn="l">
              <a:lnSpc>
                <a:spcPts val="4500"/>
              </a:lnSpc>
              <a:spcBef>
                <a:spcPct val="0"/>
              </a:spcBef>
            </a:pPr>
            <a:r>
              <a:rPr lang="en-US" sz="3000" b="1" u="sng">
                <a:solidFill>
                  <a:srgbClr val="D9D9D9"/>
                </a:solidFill>
                <a:latin typeface="Now Bold"/>
                <a:ea typeface="Now Bold"/>
                <a:cs typeface="Now Bold"/>
                <a:sym typeface="Now Bold"/>
              </a:rPr>
              <a:t>Key Insights </a:t>
            </a:r>
          </a:p>
          <a:p>
            <a:pPr marL="647702" lvl="1" indent="-323851" algn="l">
              <a:lnSpc>
                <a:spcPts val="4500"/>
              </a:lnSpc>
              <a:buFont typeface="Arial"/>
              <a:buChar char="•"/>
            </a:pPr>
            <a:r>
              <a:rPr lang="en-US" sz="3000">
                <a:solidFill>
                  <a:srgbClr val="D9D9D9"/>
                </a:solidFill>
                <a:latin typeface="Now"/>
                <a:ea typeface="Now"/>
                <a:cs typeface="Now"/>
                <a:sym typeface="Now"/>
              </a:rPr>
              <a:t>Most Common Genres: Drama, Comedy, Action, Thriller, Romance</a:t>
            </a:r>
          </a:p>
          <a:p>
            <a:pPr marL="647702" lvl="1" indent="-323851" algn="l">
              <a:lnSpc>
                <a:spcPts val="4500"/>
              </a:lnSpc>
              <a:buFont typeface="Arial"/>
              <a:buChar char="•"/>
            </a:pPr>
            <a:r>
              <a:rPr lang="en-US" sz="3000">
                <a:solidFill>
                  <a:srgbClr val="D9D9D9"/>
                </a:solidFill>
                <a:latin typeface="Now"/>
                <a:ea typeface="Now"/>
                <a:cs typeface="Now"/>
                <a:sym typeface="Now"/>
              </a:rPr>
              <a:t> Highest Avg Ratings:</a:t>
            </a:r>
          </a:p>
          <a:p>
            <a:pPr marL="1295403" lvl="2" indent="-431801" algn="l">
              <a:lnSpc>
                <a:spcPts val="4500"/>
              </a:lnSpc>
              <a:buFont typeface="Arial"/>
              <a:buChar char="⚬"/>
            </a:pPr>
            <a:r>
              <a:rPr lang="en-US" sz="3000">
                <a:solidFill>
                  <a:srgbClr val="D9D9D9"/>
                </a:solidFill>
                <a:latin typeface="Now"/>
                <a:ea typeface="Now"/>
                <a:cs typeface="Now"/>
                <a:sym typeface="Now"/>
              </a:rPr>
              <a:t>Film-Noir: 7.63 </a:t>
            </a:r>
          </a:p>
          <a:p>
            <a:pPr marL="1295403" lvl="2" indent="-431801" algn="l">
              <a:lnSpc>
                <a:spcPts val="4500"/>
              </a:lnSpc>
              <a:buFont typeface="Arial"/>
              <a:buChar char="⚬"/>
            </a:pPr>
            <a:r>
              <a:rPr lang="en-US" sz="3000">
                <a:solidFill>
                  <a:srgbClr val="D9D9D9"/>
                </a:solidFill>
                <a:latin typeface="Now"/>
                <a:ea typeface="Now"/>
                <a:cs typeface="Now"/>
                <a:sym typeface="Now"/>
              </a:rPr>
              <a:t>Documentary: 7.18 </a:t>
            </a:r>
          </a:p>
          <a:p>
            <a:pPr marL="1209045" lvl="2" indent="-403015" algn="l">
              <a:lnSpc>
                <a:spcPts val="4200"/>
              </a:lnSpc>
              <a:buFont typeface="Arial"/>
              <a:buChar char="⚬"/>
            </a:pPr>
            <a:r>
              <a:rPr lang="en-US" sz="2800">
                <a:solidFill>
                  <a:srgbClr val="D9D9D9"/>
                </a:solidFill>
                <a:latin typeface="Now"/>
                <a:ea typeface="Now"/>
                <a:cs typeface="Now"/>
                <a:sym typeface="Now"/>
              </a:rPr>
              <a:t>Biography: 7.15</a:t>
            </a:r>
          </a:p>
          <a:p>
            <a:pPr marL="647702" lvl="1" indent="-323851" algn="l">
              <a:lnSpc>
                <a:spcPts val="4500"/>
              </a:lnSpc>
              <a:buFont typeface="Arial"/>
              <a:buChar char="•"/>
            </a:pPr>
            <a:r>
              <a:rPr lang="en-US" sz="3000">
                <a:solidFill>
                  <a:srgbClr val="D9D9D9"/>
                </a:solidFill>
                <a:latin typeface="Now"/>
                <a:ea typeface="Now"/>
                <a:cs typeface="Now"/>
                <a:sym typeface="Now"/>
              </a:rPr>
              <a:t> Lowest Avg Rating: Reality-TV (4.75)</a:t>
            </a:r>
          </a:p>
          <a:p>
            <a:pPr marL="647702" lvl="1" indent="-323851" algn="l">
              <a:lnSpc>
                <a:spcPts val="4500"/>
              </a:lnSpc>
              <a:buFont typeface="Arial"/>
              <a:buChar char="•"/>
            </a:pPr>
            <a:r>
              <a:rPr lang="en-US" sz="3000">
                <a:solidFill>
                  <a:srgbClr val="D9D9D9"/>
                </a:solidFill>
                <a:latin typeface="Now"/>
                <a:ea typeface="Now"/>
                <a:cs typeface="Now"/>
                <a:sym typeface="Now"/>
              </a:rPr>
              <a:t> Niche genres tend to receive higher ratings</a:t>
            </a:r>
          </a:p>
          <a:p>
            <a:pPr marL="647702" lvl="1" indent="-323851" algn="l">
              <a:lnSpc>
                <a:spcPts val="4500"/>
              </a:lnSpc>
              <a:buFont typeface="Arial"/>
              <a:buChar char="•"/>
            </a:pPr>
            <a:r>
              <a:rPr lang="en-US" sz="3000">
                <a:solidFill>
                  <a:srgbClr val="D9D9D9"/>
                </a:solidFill>
                <a:latin typeface="Now"/>
                <a:ea typeface="Now"/>
                <a:cs typeface="Now"/>
                <a:sym typeface="Now"/>
              </a:rPr>
              <a:t> Popular genres show greater variation</a:t>
            </a:r>
          </a:p>
        </p:txBody>
      </p:sp>
      <p:sp>
        <p:nvSpPr>
          <p:cNvPr id="4" name="TextBox 4"/>
          <p:cNvSpPr txBox="1"/>
          <p:nvPr/>
        </p:nvSpPr>
        <p:spPr>
          <a:xfrm>
            <a:off x="1028700" y="7489559"/>
            <a:ext cx="16230600" cy="2274570"/>
          </a:xfrm>
          <a:prstGeom prst="rect">
            <a:avLst/>
          </a:prstGeom>
        </p:spPr>
        <p:txBody>
          <a:bodyPr lIns="0" tIns="0" rIns="0" bIns="0" rtlCol="0" anchor="t">
            <a:spAutoFit/>
          </a:bodyPr>
          <a:lstStyle/>
          <a:p>
            <a:pPr algn="l">
              <a:lnSpc>
                <a:spcPts val="4500"/>
              </a:lnSpc>
              <a:spcBef>
                <a:spcPct val="0"/>
              </a:spcBef>
            </a:pPr>
            <a:r>
              <a:rPr lang="en-US" sz="3000" b="1" u="sng">
                <a:solidFill>
                  <a:srgbClr val="D9D9D9"/>
                </a:solidFill>
                <a:latin typeface="Now Bold"/>
                <a:ea typeface="Now Bold"/>
                <a:cs typeface="Now Bold"/>
                <a:sym typeface="Now Bold"/>
              </a:rPr>
              <a:t>Conclusion:</a:t>
            </a:r>
          </a:p>
          <a:p>
            <a:pPr algn="l">
              <a:lnSpc>
                <a:spcPts val="4500"/>
              </a:lnSpc>
              <a:spcBef>
                <a:spcPct val="0"/>
              </a:spcBef>
            </a:pPr>
            <a:r>
              <a:rPr lang="en-US" sz="3000">
                <a:solidFill>
                  <a:srgbClr val="D9D9D9"/>
                </a:solidFill>
                <a:latin typeface="Now"/>
                <a:ea typeface="Now"/>
                <a:cs typeface="Now"/>
                <a:sym typeface="Now"/>
              </a:rPr>
              <a:t>Genre influences ratings significantly. Niche genres may be less common but often receive better reviews, while mainstream genres attract large audiences but show inconsistent scores.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91000"/>
              </a:srgbClr>
            </a:gs>
            <a:gs pos="100000">
              <a:srgbClr val="33285C">
                <a:alpha val="100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1028700" y="4697730"/>
            <a:ext cx="16230600" cy="4560570"/>
          </a:xfrm>
          <a:prstGeom prst="rect">
            <a:avLst/>
          </a:prstGeom>
        </p:spPr>
        <p:txBody>
          <a:bodyPr lIns="0" tIns="0" rIns="0" bIns="0" rtlCol="0" anchor="t">
            <a:spAutoFit/>
          </a:bodyPr>
          <a:lstStyle/>
          <a:p>
            <a:pPr algn="l">
              <a:lnSpc>
                <a:spcPts val="4500"/>
              </a:lnSpc>
              <a:spcBef>
                <a:spcPct val="0"/>
              </a:spcBef>
            </a:pPr>
            <a:r>
              <a:rPr lang="en-US" sz="3000" b="1" u="sng">
                <a:solidFill>
                  <a:srgbClr val="D9D9D9"/>
                </a:solidFill>
                <a:latin typeface="Now Bold"/>
                <a:ea typeface="Now Bold"/>
                <a:cs typeface="Now Bold"/>
                <a:sym typeface="Now Bold"/>
              </a:rPr>
              <a:t>Approach:</a:t>
            </a:r>
          </a:p>
          <a:p>
            <a:pPr marL="647700" lvl="1" indent="-323850" algn="l">
              <a:lnSpc>
                <a:spcPts val="4500"/>
              </a:lnSpc>
              <a:buFont typeface="Arial"/>
              <a:buChar char="•"/>
            </a:pPr>
            <a:r>
              <a:rPr lang="en-US" sz="3000">
                <a:solidFill>
                  <a:srgbClr val="D9D9D9"/>
                </a:solidFill>
                <a:latin typeface="Now"/>
                <a:ea typeface="Now"/>
                <a:cs typeface="Now"/>
                <a:sym typeface="Now"/>
              </a:rPr>
              <a:t>Calculated key descriptive statistics:</a:t>
            </a:r>
          </a:p>
          <a:p>
            <a:pPr marL="1295400" lvl="2" indent="-431800" algn="l">
              <a:lnSpc>
                <a:spcPts val="4500"/>
              </a:lnSpc>
              <a:buFont typeface="Arial"/>
              <a:buChar char="⚬"/>
            </a:pPr>
            <a:r>
              <a:rPr lang="en-US" sz="3000">
                <a:solidFill>
                  <a:srgbClr val="D9D9D9"/>
                </a:solidFill>
                <a:latin typeface="Now"/>
                <a:ea typeface="Now"/>
                <a:cs typeface="Now"/>
                <a:sym typeface="Now"/>
              </a:rPr>
              <a:t> Average (Mean) duration</a:t>
            </a:r>
          </a:p>
          <a:p>
            <a:pPr marL="1295400" lvl="2" indent="-431800" algn="l">
              <a:lnSpc>
                <a:spcPts val="4500"/>
              </a:lnSpc>
              <a:buFont typeface="Arial"/>
              <a:buChar char="⚬"/>
            </a:pPr>
            <a:r>
              <a:rPr lang="en-US" sz="3000">
                <a:solidFill>
                  <a:srgbClr val="D9D9D9"/>
                </a:solidFill>
                <a:latin typeface="Now"/>
                <a:ea typeface="Now"/>
                <a:cs typeface="Now"/>
                <a:sym typeface="Now"/>
              </a:rPr>
              <a:t> Median duration</a:t>
            </a:r>
          </a:p>
          <a:p>
            <a:pPr marL="1295400" lvl="2" indent="-431800" algn="l">
              <a:lnSpc>
                <a:spcPts val="4500"/>
              </a:lnSpc>
              <a:buFont typeface="Arial"/>
              <a:buChar char="⚬"/>
            </a:pPr>
            <a:r>
              <a:rPr lang="en-US" sz="3000">
                <a:solidFill>
                  <a:srgbClr val="D9D9D9"/>
                </a:solidFill>
                <a:latin typeface="Now"/>
                <a:ea typeface="Now"/>
                <a:cs typeface="Now"/>
                <a:sym typeface="Now"/>
              </a:rPr>
              <a:t> Standard Deviation to measure spread</a:t>
            </a:r>
          </a:p>
          <a:p>
            <a:pPr marL="647700" lvl="1" indent="-323850" algn="l">
              <a:lnSpc>
                <a:spcPts val="4500"/>
              </a:lnSpc>
              <a:buFont typeface="Arial"/>
              <a:buChar char="•"/>
            </a:pPr>
            <a:r>
              <a:rPr lang="en-US" sz="3000">
                <a:solidFill>
                  <a:srgbClr val="D9D9D9"/>
                </a:solidFill>
                <a:latin typeface="Now"/>
                <a:ea typeface="Now"/>
                <a:cs typeface="Now"/>
                <a:sym typeface="Now"/>
              </a:rPr>
              <a:t> Used Excel functions: AVERAGE(), MEDIAN(), and STDEV()</a:t>
            </a:r>
          </a:p>
          <a:p>
            <a:pPr marL="647700" lvl="1" indent="-323850" algn="l">
              <a:lnSpc>
                <a:spcPts val="4500"/>
              </a:lnSpc>
              <a:buFont typeface="Arial"/>
              <a:buChar char="•"/>
            </a:pPr>
            <a:r>
              <a:rPr lang="en-US" sz="3000">
                <a:solidFill>
                  <a:srgbClr val="D9D9D9"/>
                </a:solidFill>
                <a:latin typeface="Now"/>
                <a:ea typeface="Now"/>
                <a:cs typeface="Now"/>
                <a:sym typeface="Now"/>
              </a:rPr>
              <a:t> Created a scatter plot of Duration vs IMDB Score</a:t>
            </a:r>
          </a:p>
          <a:p>
            <a:pPr marL="647700" lvl="1" indent="-323850" algn="l">
              <a:lnSpc>
                <a:spcPts val="4500"/>
              </a:lnSpc>
              <a:buFont typeface="Arial"/>
              <a:buChar char="•"/>
            </a:pPr>
            <a:r>
              <a:rPr lang="en-US" sz="3000">
                <a:solidFill>
                  <a:srgbClr val="D9D9D9"/>
                </a:solidFill>
                <a:latin typeface="Now"/>
                <a:ea typeface="Now"/>
                <a:cs typeface="Now"/>
                <a:sym typeface="Now"/>
              </a:rPr>
              <a:t> Added a trendline to analyze the strength and direction of the relationship</a:t>
            </a:r>
          </a:p>
        </p:txBody>
      </p:sp>
      <p:sp>
        <p:nvSpPr>
          <p:cNvPr id="3" name="Freeform 3"/>
          <p:cNvSpPr/>
          <p:nvPr/>
        </p:nvSpPr>
        <p:spPr>
          <a:xfrm>
            <a:off x="8949288" y="5143500"/>
            <a:ext cx="9097854" cy="1438730"/>
          </a:xfrm>
          <a:custGeom>
            <a:avLst/>
            <a:gdLst/>
            <a:ahLst/>
            <a:cxnLst/>
            <a:rect l="l" t="t" r="r" b="b"/>
            <a:pathLst>
              <a:path w="9097854" h="1438730">
                <a:moveTo>
                  <a:pt x="0" y="0"/>
                </a:moveTo>
                <a:lnTo>
                  <a:pt x="9097854" y="0"/>
                </a:lnTo>
                <a:lnTo>
                  <a:pt x="9097854" y="1438730"/>
                </a:lnTo>
                <a:lnTo>
                  <a:pt x="0" y="1438730"/>
                </a:lnTo>
                <a:lnTo>
                  <a:pt x="0" y="0"/>
                </a:lnTo>
                <a:close/>
              </a:path>
            </a:pathLst>
          </a:custGeom>
          <a:blipFill>
            <a:blip r:embed="rId2"/>
            <a:stretch>
              <a:fillRect/>
            </a:stretch>
          </a:blipFill>
        </p:spPr>
      </p:sp>
      <p:sp>
        <p:nvSpPr>
          <p:cNvPr id="4" name="TextBox 4"/>
          <p:cNvSpPr txBox="1"/>
          <p:nvPr/>
        </p:nvSpPr>
        <p:spPr>
          <a:xfrm>
            <a:off x="1028700" y="596265"/>
            <a:ext cx="16230600" cy="1685291"/>
          </a:xfrm>
          <a:prstGeom prst="rect">
            <a:avLst/>
          </a:prstGeom>
        </p:spPr>
        <p:txBody>
          <a:bodyPr lIns="0" tIns="0" rIns="0" bIns="0" rtlCol="0" anchor="t">
            <a:spAutoFit/>
          </a:bodyPr>
          <a:lstStyle/>
          <a:p>
            <a:pPr algn="ctr">
              <a:lnSpc>
                <a:spcPts val="7500"/>
              </a:lnSpc>
            </a:pPr>
            <a:r>
              <a:rPr lang="en-US" sz="7500" b="1">
                <a:solidFill>
                  <a:srgbClr val="FDFEFE"/>
                </a:solidFill>
                <a:latin typeface="Now Bold"/>
                <a:ea typeface="Now Bold"/>
                <a:cs typeface="Now Bold"/>
                <a:sym typeface="Now Bold"/>
              </a:rPr>
              <a:t>MOVIE DURATION ANALYSIS –</a:t>
            </a:r>
          </a:p>
          <a:p>
            <a:pPr algn="ctr">
              <a:lnSpc>
                <a:spcPts val="5500"/>
              </a:lnSpc>
            </a:pPr>
            <a:r>
              <a:rPr lang="en-US" sz="5500" b="1">
                <a:solidFill>
                  <a:srgbClr val="FDFEFE"/>
                </a:solidFill>
                <a:latin typeface="Now Bold"/>
                <a:ea typeface="Now Bold"/>
                <a:cs typeface="Now Bold"/>
                <a:sym typeface="Now Bold"/>
              </a:rPr>
              <a:t>Objective &amp; Approach </a:t>
            </a:r>
          </a:p>
        </p:txBody>
      </p:sp>
      <p:sp>
        <p:nvSpPr>
          <p:cNvPr id="5" name="TextBox 5"/>
          <p:cNvSpPr txBox="1"/>
          <p:nvPr/>
        </p:nvSpPr>
        <p:spPr>
          <a:xfrm>
            <a:off x="1028700" y="2791832"/>
            <a:ext cx="16230600" cy="1703070"/>
          </a:xfrm>
          <a:prstGeom prst="rect">
            <a:avLst/>
          </a:prstGeom>
        </p:spPr>
        <p:txBody>
          <a:bodyPr lIns="0" tIns="0" rIns="0" bIns="0" rtlCol="0" anchor="t">
            <a:spAutoFit/>
          </a:bodyPr>
          <a:lstStyle/>
          <a:p>
            <a:pPr algn="l">
              <a:lnSpc>
                <a:spcPts val="4500"/>
              </a:lnSpc>
              <a:spcBef>
                <a:spcPct val="0"/>
              </a:spcBef>
            </a:pPr>
            <a:r>
              <a:rPr lang="en-US" sz="3000" b="1" u="sng">
                <a:solidFill>
                  <a:srgbClr val="D9D9D9"/>
                </a:solidFill>
                <a:latin typeface="Now Bold"/>
                <a:ea typeface="Now Bold"/>
                <a:cs typeface="Now Bold"/>
                <a:sym typeface="Now Bold"/>
              </a:rPr>
              <a:t>Objective:</a:t>
            </a:r>
          </a:p>
          <a:p>
            <a:pPr algn="l">
              <a:lnSpc>
                <a:spcPts val="4500"/>
              </a:lnSpc>
              <a:spcBef>
                <a:spcPct val="0"/>
              </a:spcBef>
            </a:pPr>
            <a:r>
              <a:rPr lang="en-US" sz="3000">
                <a:solidFill>
                  <a:srgbClr val="D9D9D9"/>
                </a:solidFill>
                <a:latin typeface="Now"/>
                <a:ea typeface="Now"/>
                <a:cs typeface="Now"/>
                <a:sym typeface="Now"/>
              </a:rPr>
              <a:t>To analyze the distribution of movie durations and evaluate how movie length affects the IMDB score.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91000"/>
              </a:srgbClr>
            </a:gs>
            <a:gs pos="100000">
              <a:srgbClr val="33285C">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0005886" y="3502655"/>
            <a:ext cx="7696853" cy="4819755"/>
          </a:xfrm>
          <a:custGeom>
            <a:avLst/>
            <a:gdLst/>
            <a:ahLst/>
            <a:cxnLst/>
            <a:rect l="l" t="t" r="r" b="b"/>
            <a:pathLst>
              <a:path w="7696853" h="4819755">
                <a:moveTo>
                  <a:pt x="0" y="0"/>
                </a:moveTo>
                <a:lnTo>
                  <a:pt x="7696853" y="0"/>
                </a:lnTo>
                <a:lnTo>
                  <a:pt x="7696853" y="4819755"/>
                </a:lnTo>
                <a:lnTo>
                  <a:pt x="0" y="4819755"/>
                </a:lnTo>
                <a:lnTo>
                  <a:pt x="0" y="0"/>
                </a:lnTo>
                <a:close/>
              </a:path>
            </a:pathLst>
          </a:custGeom>
          <a:blipFill>
            <a:blip r:embed="rId2"/>
            <a:stretch>
              <a:fillRect/>
            </a:stretch>
          </a:blipFill>
        </p:spPr>
      </p:sp>
      <p:sp>
        <p:nvSpPr>
          <p:cNvPr id="3" name="TextBox 3"/>
          <p:cNvSpPr txBox="1"/>
          <p:nvPr/>
        </p:nvSpPr>
        <p:spPr>
          <a:xfrm>
            <a:off x="1892439" y="437563"/>
            <a:ext cx="14503123" cy="1971694"/>
          </a:xfrm>
          <a:prstGeom prst="rect">
            <a:avLst/>
          </a:prstGeom>
        </p:spPr>
        <p:txBody>
          <a:bodyPr lIns="0" tIns="0" rIns="0" bIns="0" rtlCol="0" anchor="t">
            <a:spAutoFit/>
          </a:bodyPr>
          <a:lstStyle/>
          <a:p>
            <a:pPr algn="ctr">
              <a:lnSpc>
                <a:spcPts val="7499"/>
              </a:lnSpc>
            </a:pPr>
            <a:r>
              <a:rPr lang="en-US" sz="7200" b="1" dirty="0">
                <a:solidFill>
                  <a:srgbClr val="FDFEFE"/>
                </a:solidFill>
                <a:latin typeface="Now Bold"/>
                <a:ea typeface="Now Bold"/>
                <a:cs typeface="Now Bold"/>
                <a:sym typeface="Now Bold"/>
              </a:rPr>
              <a:t>MOVIE</a:t>
            </a:r>
            <a:r>
              <a:rPr lang="en-US" sz="7499" b="1" dirty="0">
                <a:solidFill>
                  <a:srgbClr val="FDFEFE"/>
                </a:solidFill>
                <a:latin typeface="Now Bold"/>
                <a:ea typeface="Now Bold"/>
                <a:cs typeface="Now Bold"/>
                <a:sym typeface="Now Bold"/>
              </a:rPr>
              <a:t> DURATION ANALYSIS –</a:t>
            </a:r>
          </a:p>
          <a:p>
            <a:pPr algn="ctr">
              <a:lnSpc>
                <a:spcPts val="8250"/>
              </a:lnSpc>
              <a:spcBef>
                <a:spcPct val="0"/>
              </a:spcBef>
            </a:pPr>
            <a:r>
              <a:rPr lang="en-US" sz="5500" b="1" dirty="0">
                <a:solidFill>
                  <a:srgbClr val="FDFEFE"/>
                </a:solidFill>
                <a:latin typeface="Now Bold"/>
                <a:ea typeface="Now Bold"/>
                <a:cs typeface="Now Bold"/>
                <a:sym typeface="Now Bold"/>
              </a:rPr>
              <a:t>Insights – Duration vs IMDB Score</a:t>
            </a:r>
          </a:p>
        </p:txBody>
      </p:sp>
      <p:sp>
        <p:nvSpPr>
          <p:cNvPr id="4" name="TextBox 4"/>
          <p:cNvSpPr txBox="1"/>
          <p:nvPr/>
        </p:nvSpPr>
        <p:spPr>
          <a:xfrm>
            <a:off x="1028700" y="2441623"/>
            <a:ext cx="8743743" cy="6846570"/>
          </a:xfrm>
          <a:prstGeom prst="rect">
            <a:avLst/>
          </a:prstGeom>
        </p:spPr>
        <p:txBody>
          <a:bodyPr lIns="0" tIns="0" rIns="0" bIns="0" rtlCol="0" anchor="t">
            <a:spAutoFit/>
          </a:bodyPr>
          <a:lstStyle/>
          <a:p>
            <a:pPr algn="l">
              <a:lnSpc>
                <a:spcPts val="4500"/>
              </a:lnSpc>
            </a:pPr>
            <a:r>
              <a:rPr lang="en-US" sz="3000" b="1" u="sng" dirty="0">
                <a:solidFill>
                  <a:srgbClr val="D9D9D9"/>
                </a:solidFill>
                <a:latin typeface="Now Bold"/>
                <a:ea typeface="Now Bold"/>
                <a:cs typeface="Now Bold"/>
                <a:sym typeface="Now Bold"/>
              </a:rPr>
              <a:t>Key Insights:</a:t>
            </a:r>
          </a:p>
          <a:p>
            <a:pPr marL="647700" lvl="1" indent="-323850" algn="l">
              <a:lnSpc>
                <a:spcPts val="4500"/>
              </a:lnSpc>
              <a:buFont typeface="Arial"/>
              <a:buChar char="•"/>
            </a:pPr>
            <a:r>
              <a:rPr lang="en-US" sz="3000" dirty="0">
                <a:solidFill>
                  <a:srgbClr val="D9D9D9"/>
                </a:solidFill>
                <a:latin typeface="Now"/>
                <a:ea typeface="Now"/>
                <a:cs typeface="Now"/>
                <a:sym typeface="Now"/>
              </a:rPr>
              <a:t>Average duration of movies is around 107 minutes</a:t>
            </a:r>
          </a:p>
          <a:p>
            <a:pPr marL="647700" lvl="1" indent="-323850" algn="l">
              <a:lnSpc>
                <a:spcPts val="4500"/>
              </a:lnSpc>
              <a:buFont typeface="Arial"/>
              <a:buChar char="•"/>
            </a:pPr>
            <a:r>
              <a:rPr lang="en-US" sz="3000" dirty="0">
                <a:solidFill>
                  <a:srgbClr val="D9D9D9"/>
                </a:solidFill>
                <a:latin typeface="Now"/>
                <a:ea typeface="Now"/>
                <a:cs typeface="Now"/>
                <a:sym typeface="Now"/>
              </a:rPr>
              <a:t> Median duration is 103 minutes (indicating slightly left-skewed distribution)</a:t>
            </a:r>
          </a:p>
          <a:p>
            <a:pPr marL="647700" lvl="1" indent="-323850" algn="l">
              <a:lnSpc>
                <a:spcPts val="4500"/>
              </a:lnSpc>
              <a:buFont typeface="Arial"/>
              <a:buChar char="•"/>
            </a:pPr>
            <a:r>
              <a:rPr lang="en-US" sz="3000" dirty="0">
                <a:solidFill>
                  <a:srgbClr val="D9D9D9"/>
                </a:solidFill>
                <a:latin typeface="Now"/>
                <a:ea typeface="Now"/>
                <a:cs typeface="Now"/>
                <a:sym typeface="Now"/>
              </a:rPr>
              <a:t> Standard deviation is 25.17 minutes, showing moderate spread</a:t>
            </a:r>
          </a:p>
          <a:p>
            <a:pPr marL="647700" lvl="1" indent="-323850" algn="l">
              <a:lnSpc>
                <a:spcPts val="4500"/>
              </a:lnSpc>
              <a:buFont typeface="Arial"/>
              <a:buChar char="•"/>
            </a:pPr>
            <a:r>
              <a:rPr lang="en-US" sz="3000" dirty="0">
                <a:solidFill>
                  <a:srgbClr val="D9D9D9"/>
                </a:solidFill>
                <a:latin typeface="Now"/>
                <a:ea typeface="Now"/>
                <a:cs typeface="Now"/>
                <a:sym typeface="Now"/>
              </a:rPr>
              <a:t> Scatter plot shows a weak positive correlation between movie length and IMDB score</a:t>
            </a:r>
          </a:p>
          <a:p>
            <a:pPr marL="647700" lvl="1" indent="-323850" algn="l">
              <a:lnSpc>
                <a:spcPts val="4500"/>
              </a:lnSpc>
              <a:buFont typeface="Arial"/>
              <a:buChar char="•"/>
            </a:pPr>
            <a:r>
              <a:rPr lang="en-US" sz="3000" dirty="0">
                <a:solidFill>
                  <a:srgbClr val="D9D9D9"/>
                </a:solidFill>
                <a:latin typeface="Now"/>
                <a:ea typeface="Now"/>
                <a:cs typeface="Now"/>
                <a:sym typeface="Now"/>
              </a:rPr>
              <a:t> R² value is low (~0.069) → Duration alone doesn't strongly influence rating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91000"/>
              </a:srgbClr>
            </a:gs>
            <a:gs pos="100000">
              <a:srgbClr val="33285C">
                <a:alpha val="100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1028700" y="3247080"/>
            <a:ext cx="16230600" cy="1703070"/>
          </a:xfrm>
          <a:prstGeom prst="rect">
            <a:avLst/>
          </a:prstGeom>
        </p:spPr>
        <p:txBody>
          <a:bodyPr lIns="0" tIns="0" rIns="0" bIns="0" rtlCol="0" anchor="t">
            <a:spAutoFit/>
          </a:bodyPr>
          <a:lstStyle/>
          <a:p>
            <a:pPr algn="l">
              <a:lnSpc>
                <a:spcPts val="4500"/>
              </a:lnSpc>
              <a:spcBef>
                <a:spcPct val="0"/>
              </a:spcBef>
            </a:pPr>
            <a:r>
              <a:rPr lang="en-US" sz="3000" b="1" u="sng">
                <a:solidFill>
                  <a:srgbClr val="D9D9D9"/>
                </a:solidFill>
                <a:latin typeface="Now Bold"/>
                <a:ea typeface="Now Bold"/>
                <a:cs typeface="Now Bold"/>
                <a:sym typeface="Now Bold"/>
              </a:rPr>
              <a:t>Objective</a:t>
            </a:r>
          </a:p>
          <a:p>
            <a:pPr algn="l">
              <a:lnSpc>
                <a:spcPts val="4500"/>
              </a:lnSpc>
              <a:spcBef>
                <a:spcPct val="0"/>
              </a:spcBef>
            </a:pPr>
            <a:r>
              <a:rPr lang="en-US" sz="3000">
                <a:solidFill>
                  <a:srgbClr val="D9D9D9"/>
                </a:solidFill>
                <a:latin typeface="Now"/>
                <a:ea typeface="Now"/>
                <a:cs typeface="Now"/>
                <a:sym typeface="Now"/>
              </a:rPr>
              <a:t>To examine how different movie languages influence IMDB ratings using descriptive statistics like mean, median, and standard deviation.</a:t>
            </a:r>
          </a:p>
        </p:txBody>
      </p:sp>
      <p:sp>
        <p:nvSpPr>
          <p:cNvPr id="3" name="TextBox 3"/>
          <p:cNvSpPr txBox="1"/>
          <p:nvPr/>
        </p:nvSpPr>
        <p:spPr>
          <a:xfrm>
            <a:off x="1028700" y="712583"/>
            <a:ext cx="16230600" cy="2275841"/>
          </a:xfrm>
          <a:prstGeom prst="rect">
            <a:avLst/>
          </a:prstGeom>
        </p:spPr>
        <p:txBody>
          <a:bodyPr lIns="0" tIns="0" rIns="0" bIns="0" rtlCol="0" anchor="t">
            <a:spAutoFit/>
          </a:bodyPr>
          <a:lstStyle/>
          <a:p>
            <a:pPr algn="ctr">
              <a:lnSpc>
                <a:spcPts val="11250"/>
              </a:lnSpc>
              <a:spcBef>
                <a:spcPct val="0"/>
              </a:spcBef>
            </a:pPr>
            <a:r>
              <a:rPr lang="en-US" sz="7500" b="1">
                <a:solidFill>
                  <a:srgbClr val="FDFEFE"/>
                </a:solidFill>
                <a:latin typeface="Now Bold"/>
                <a:ea typeface="Now Bold"/>
                <a:cs typeface="Now Bold"/>
                <a:sym typeface="Now Bold"/>
              </a:rPr>
              <a:t>LANGUAGE ANALYSIS -</a:t>
            </a:r>
          </a:p>
          <a:p>
            <a:pPr algn="ctr">
              <a:lnSpc>
                <a:spcPts val="5500"/>
              </a:lnSpc>
            </a:pPr>
            <a:r>
              <a:rPr lang="en-US" sz="5500" b="1">
                <a:solidFill>
                  <a:srgbClr val="FDFEFE"/>
                </a:solidFill>
                <a:latin typeface="Now Bold"/>
                <a:ea typeface="Now Bold"/>
                <a:cs typeface="Now Bold"/>
                <a:sym typeface="Now Bold"/>
              </a:rPr>
              <a:t>Approach </a:t>
            </a:r>
          </a:p>
        </p:txBody>
      </p:sp>
      <p:sp>
        <p:nvSpPr>
          <p:cNvPr id="4" name="TextBox 4"/>
          <p:cNvSpPr txBox="1"/>
          <p:nvPr/>
        </p:nvSpPr>
        <p:spPr>
          <a:xfrm>
            <a:off x="1028700" y="5208806"/>
            <a:ext cx="16230600" cy="3417570"/>
          </a:xfrm>
          <a:prstGeom prst="rect">
            <a:avLst/>
          </a:prstGeom>
        </p:spPr>
        <p:txBody>
          <a:bodyPr lIns="0" tIns="0" rIns="0" bIns="0" rtlCol="0" anchor="t">
            <a:spAutoFit/>
          </a:bodyPr>
          <a:lstStyle/>
          <a:p>
            <a:pPr algn="l">
              <a:lnSpc>
                <a:spcPts val="4500"/>
              </a:lnSpc>
              <a:spcBef>
                <a:spcPct val="0"/>
              </a:spcBef>
            </a:pPr>
            <a:r>
              <a:rPr lang="en-US" sz="3000" b="1" u="sng">
                <a:solidFill>
                  <a:srgbClr val="D9D9D9"/>
                </a:solidFill>
                <a:latin typeface="Now Bold"/>
                <a:ea typeface="Now Bold"/>
                <a:cs typeface="Now Bold"/>
                <a:sym typeface="Now Bold"/>
              </a:rPr>
              <a:t>Approach</a:t>
            </a:r>
          </a:p>
          <a:p>
            <a:pPr marL="647700" lvl="1" indent="-323850" algn="l">
              <a:lnSpc>
                <a:spcPts val="4500"/>
              </a:lnSpc>
              <a:buFont typeface="Arial"/>
              <a:buChar char="•"/>
            </a:pPr>
            <a:r>
              <a:rPr lang="en-US" sz="3000">
                <a:solidFill>
                  <a:srgbClr val="D9D9D9"/>
                </a:solidFill>
                <a:latin typeface="Now"/>
                <a:ea typeface="Now"/>
                <a:cs typeface="Now"/>
                <a:sym typeface="Now"/>
              </a:rPr>
              <a:t>Used Excel formulas:</a:t>
            </a:r>
          </a:p>
          <a:p>
            <a:pPr marL="1295400" lvl="2" indent="-431800" algn="l">
              <a:lnSpc>
                <a:spcPts val="4500"/>
              </a:lnSpc>
              <a:buFont typeface="Arial"/>
              <a:buChar char="⚬"/>
            </a:pPr>
            <a:r>
              <a:rPr lang="en-US" sz="3000">
                <a:solidFill>
                  <a:srgbClr val="D9D9D9"/>
                </a:solidFill>
                <a:latin typeface="Now"/>
                <a:ea typeface="Now"/>
                <a:cs typeface="Now"/>
                <a:sym typeface="Now"/>
              </a:rPr>
              <a:t> COUNTIF – to count number of movies per language</a:t>
            </a:r>
          </a:p>
          <a:p>
            <a:pPr marL="1295400" lvl="2" indent="-431800" algn="l">
              <a:lnSpc>
                <a:spcPts val="4500"/>
              </a:lnSpc>
              <a:buFont typeface="Arial"/>
              <a:buChar char="⚬"/>
            </a:pPr>
            <a:r>
              <a:rPr lang="en-US" sz="3000">
                <a:solidFill>
                  <a:srgbClr val="D9D9D9"/>
                </a:solidFill>
                <a:latin typeface="Now"/>
                <a:ea typeface="Now"/>
                <a:cs typeface="Now"/>
                <a:sym typeface="Now"/>
              </a:rPr>
              <a:t> AVERAGEIF, MEDIAN, STDEV.P – to compute statistical measures</a:t>
            </a:r>
          </a:p>
          <a:p>
            <a:pPr marL="647700" lvl="1" indent="-323850" algn="l">
              <a:lnSpc>
                <a:spcPts val="4500"/>
              </a:lnSpc>
              <a:buFont typeface="Arial"/>
              <a:buChar char="•"/>
            </a:pPr>
            <a:r>
              <a:rPr lang="en-US" sz="3000">
                <a:solidFill>
                  <a:srgbClr val="D9D9D9"/>
                </a:solidFill>
                <a:latin typeface="Now"/>
                <a:ea typeface="Now"/>
                <a:cs typeface="Now"/>
                <a:sym typeface="Now"/>
              </a:rPr>
              <a:t>Filtered dataset by unique languages</a:t>
            </a:r>
          </a:p>
          <a:p>
            <a:pPr marL="647700" lvl="1" indent="-323850" algn="l">
              <a:lnSpc>
                <a:spcPts val="4500"/>
              </a:lnSpc>
              <a:buFont typeface="Arial"/>
              <a:buChar char="•"/>
            </a:pPr>
            <a:r>
              <a:rPr lang="en-US" sz="3000">
                <a:solidFill>
                  <a:srgbClr val="D9D9D9"/>
                </a:solidFill>
                <a:latin typeface="Now"/>
                <a:ea typeface="Now"/>
                <a:cs typeface="Now"/>
                <a:sym typeface="Now"/>
              </a:rPr>
              <a:t>Created a summary table for comparison of IMDB scores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91000"/>
              </a:srgbClr>
            </a:gs>
            <a:gs pos="100000">
              <a:srgbClr val="33285C">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9286280" y="495189"/>
            <a:ext cx="8490651" cy="9296622"/>
          </a:xfrm>
          <a:custGeom>
            <a:avLst/>
            <a:gdLst/>
            <a:ahLst/>
            <a:cxnLst/>
            <a:rect l="l" t="t" r="r" b="b"/>
            <a:pathLst>
              <a:path w="8490651" h="9296622">
                <a:moveTo>
                  <a:pt x="0" y="0"/>
                </a:moveTo>
                <a:lnTo>
                  <a:pt x="8490651" y="0"/>
                </a:lnTo>
                <a:lnTo>
                  <a:pt x="8490651" y="9296622"/>
                </a:lnTo>
                <a:lnTo>
                  <a:pt x="0" y="9296622"/>
                </a:lnTo>
                <a:lnTo>
                  <a:pt x="0" y="0"/>
                </a:lnTo>
                <a:close/>
              </a:path>
            </a:pathLst>
          </a:custGeom>
          <a:blipFill>
            <a:blip r:embed="rId2"/>
            <a:stretch>
              <a:fillRect l="-1709" r="-243"/>
            </a:stretch>
          </a:blipFill>
        </p:spPr>
      </p:sp>
      <p:sp>
        <p:nvSpPr>
          <p:cNvPr id="3" name="TextBox 3"/>
          <p:cNvSpPr txBox="1"/>
          <p:nvPr/>
        </p:nvSpPr>
        <p:spPr>
          <a:xfrm>
            <a:off x="634833" y="1031271"/>
            <a:ext cx="7929256" cy="6381823"/>
          </a:xfrm>
          <a:prstGeom prst="rect">
            <a:avLst/>
          </a:prstGeom>
        </p:spPr>
        <p:txBody>
          <a:bodyPr lIns="0" tIns="0" rIns="0" bIns="0" rtlCol="0" anchor="t">
            <a:spAutoFit/>
          </a:bodyPr>
          <a:lstStyle/>
          <a:p>
            <a:pPr algn="ctr">
              <a:lnSpc>
                <a:spcPts val="12659"/>
              </a:lnSpc>
              <a:spcBef>
                <a:spcPct val="0"/>
              </a:spcBef>
            </a:pPr>
            <a:r>
              <a:rPr lang="en-US" sz="8439" b="1">
                <a:solidFill>
                  <a:srgbClr val="FDFEFE"/>
                </a:solidFill>
                <a:latin typeface="Now Bold"/>
                <a:ea typeface="Now Bold"/>
                <a:cs typeface="Now Bold"/>
                <a:sym typeface="Now Bold"/>
              </a:rPr>
              <a:t>LANGUAGE-WISE IMDB SCORE SUMMARY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91000"/>
              </a:srgbClr>
            </a:gs>
            <a:gs pos="100000">
              <a:srgbClr val="33285C">
                <a:alpha val="100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1028700" y="496274"/>
            <a:ext cx="16230600" cy="1685291"/>
          </a:xfrm>
          <a:prstGeom prst="rect">
            <a:avLst/>
          </a:prstGeom>
        </p:spPr>
        <p:txBody>
          <a:bodyPr lIns="0" tIns="0" rIns="0" bIns="0" rtlCol="0" anchor="t">
            <a:spAutoFit/>
          </a:bodyPr>
          <a:lstStyle/>
          <a:p>
            <a:pPr algn="ctr">
              <a:lnSpc>
                <a:spcPts val="7500"/>
              </a:lnSpc>
            </a:pPr>
            <a:r>
              <a:rPr lang="en-US" sz="7500" b="1">
                <a:solidFill>
                  <a:srgbClr val="FDFEFE"/>
                </a:solidFill>
                <a:latin typeface="Now Bold"/>
                <a:ea typeface="Now Bold"/>
                <a:cs typeface="Now Bold"/>
                <a:sym typeface="Now Bold"/>
              </a:rPr>
              <a:t> LANGUAGE ANALYSIS - </a:t>
            </a:r>
          </a:p>
          <a:p>
            <a:pPr algn="ctr">
              <a:lnSpc>
                <a:spcPts val="5500"/>
              </a:lnSpc>
            </a:pPr>
            <a:r>
              <a:rPr lang="en-US" sz="5500" b="1">
                <a:solidFill>
                  <a:srgbClr val="FDFEFE"/>
                </a:solidFill>
                <a:latin typeface="Now Bold"/>
                <a:ea typeface="Now Bold"/>
                <a:cs typeface="Now Bold"/>
                <a:sym typeface="Now Bold"/>
              </a:rPr>
              <a:t>Insights </a:t>
            </a:r>
          </a:p>
        </p:txBody>
      </p:sp>
      <p:sp>
        <p:nvSpPr>
          <p:cNvPr id="3" name="TextBox 3"/>
          <p:cNvSpPr txBox="1"/>
          <p:nvPr/>
        </p:nvSpPr>
        <p:spPr>
          <a:xfrm>
            <a:off x="1028700" y="2431248"/>
            <a:ext cx="16230600" cy="6369129"/>
          </a:xfrm>
          <a:prstGeom prst="rect">
            <a:avLst/>
          </a:prstGeom>
        </p:spPr>
        <p:txBody>
          <a:bodyPr lIns="0" tIns="0" rIns="0" bIns="0" rtlCol="0" anchor="t">
            <a:spAutoFit/>
          </a:bodyPr>
          <a:lstStyle/>
          <a:p>
            <a:pPr algn="l">
              <a:lnSpc>
                <a:spcPts val="4246"/>
              </a:lnSpc>
            </a:pPr>
            <a:r>
              <a:rPr lang="en-US" sz="2831" b="1" u="sng">
                <a:solidFill>
                  <a:srgbClr val="D9D9D9"/>
                </a:solidFill>
                <a:latin typeface="Now Bold"/>
                <a:ea typeface="Now Bold"/>
                <a:cs typeface="Now Bold"/>
                <a:sym typeface="Now Bold"/>
              </a:rPr>
              <a:t>Key Insights:</a:t>
            </a:r>
          </a:p>
          <a:p>
            <a:pPr marL="611267" lvl="1" indent="-305633" algn="l">
              <a:lnSpc>
                <a:spcPts val="4246"/>
              </a:lnSpc>
              <a:buFont typeface="Arial"/>
              <a:buChar char="•"/>
            </a:pPr>
            <a:r>
              <a:rPr lang="en-US" sz="2831">
                <a:solidFill>
                  <a:srgbClr val="D9D9D9"/>
                </a:solidFill>
                <a:latin typeface="Now"/>
                <a:ea typeface="Now"/>
                <a:cs typeface="Now"/>
                <a:sym typeface="Now"/>
              </a:rPr>
              <a:t>Most Common Language: English – 4660 movies</a:t>
            </a:r>
          </a:p>
          <a:p>
            <a:pPr marL="611267" lvl="1" indent="-305633" algn="l">
              <a:lnSpc>
                <a:spcPts val="4246"/>
              </a:lnSpc>
              <a:buFont typeface="Arial"/>
              <a:buChar char="•"/>
            </a:pPr>
            <a:r>
              <a:rPr lang="en-US" sz="2831">
                <a:solidFill>
                  <a:srgbClr val="D9D9D9"/>
                </a:solidFill>
                <a:latin typeface="Now"/>
                <a:ea typeface="Now"/>
                <a:cs typeface="Now"/>
                <a:sym typeface="Now"/>
              </a:rPr>
              <a:t>Top Rated Languages (by Avg IMDB):</a:t>
            </a:r>
          </a:p>
          <a:p>
            <a:pPr marL="1833801" lvl="3" indent="-458450" algn="l">
              <a:lnSpc>
                <a:spcPts val="4246"/>
              </a:lnSpc>
              <a:buFont typeface="Arial"/>
              <a:buChar char="￭"/>
            </a:pPr>
            <a:r>
              <a:rPr lang="en-US" sz="2831">
                <a:solidFill>
                  <a:srgbClr val="D9D9D9"/>
                </a:solidFill>
                <a:latin typeface="Now"/>
                <a:ea typeface="Now"/>
                <a:cs typeface="Now"/>
                <a:sym typeface="Now"/>
              </a:rPr>
              <a:t> Polish – 8.25, Indonesian – 7.9, Portuguese – 7.49</a:t>
            </a:r>
          </a:p>
          <a:p>
            <a:pPr marL="611267" lvl="1" indent="-305633" algn="l">
              <a:lnSpc>
                <a:spcPts val="4246"/>
              </a:lnSpc>
              <a:buFont typeface="Arial"/>
              <a:buChar char="•"/>
            </a:pPr>
            <a:r>
              <a:rPr lang="en-US" sz="2831">
                <a:solidFill>
                  <a:srgbClr val="D9D9D9"/>
                </a:solidFill>
                <a:latin typeface="Now"/>
                <a:ea typeface="Now"/>
                <a:cs typeface="Now"/>
                <a:sym typeface="Now"/>
              </a:rPr>
              <a:t>English Films:</a:t>
            </a:r>
          </a:p>
          <a:p>
            <a:pPr marL="1833801" lvl="3" indent="-458450" algn="l">
              <a:lnSpc>
                <a:spcPts val="4246"/>
              </a:lnSpc>
              <a:buFont typeface="Arial"/>
              <a:buChar char="￭"/>
            </a:pPr>
            <a:r>
              <a:rPr lang="en-US" sz="2831">
                <a:solidFill>
                  <a:srgbClr val="D9D9D9"/>
                </a:solidFill>
                <a:latin typeface="Now"/>
                <a:ea typeface="Now"/>
                <a:cs typeface="Now"/>
                <a:sym typeface="Now"/>
              </a:rPr>
              <a:t> Avg: 6.37, Median: 6.5, Std Dev: 1.12</a:t>
            </a:r>
          </a:p>
          <a:p>
            <a:pPr marL="611267" lvl="1" indent="-305633" algn="l">
              <a:lnSpc>
                <a:spcPts val="4246"/>
              </a:lnSpc>
              <a:buFont typeface="Arial"/>
              <a:buChar char="•"/>
            </a:pPr>
            <a:r>
              <a:rPr lang="en-US" sz="2831">
                <a:solidFill>
                  <a:srgbClr val="D9D9D9"/>
                </a:solidFill>
                <a:latin typeface="Now"/>
                <a:ea typeface="Now"/>
                <a:cs typeface="Now"/>
                <a:sym typeface="Now"/>
              </a:rPr>
              <a:t>Hindi Films: Avg: 6.63 (28 movies)</a:t>
            </a:r>
          </a:p>
          <a:p>
            <a:pPr marL="611267" lvl="1" indent="-305633" algn="l">
              <a:lnSpc>
                <a:spcPts val="4246"/>
              </a:lnSpc>
              <a:buFont typeface="Arial"/>
              <a:buChar char="•"/>
            </a:pPr>
            <a:r>
              <a:rPr lang="en-US" sz="2831">
                <a:solidFill>
                  <a:srgbClr val="D9D9D9"/>
                </a:solidFill>
                <a:latin typeface="Now"/>
                <a:ea typeface="Now"/>
                <a:cs typeface="Now"/>
                <a:sym typeface="Now"/>
              </a:rPr>
              <a:t>Highly Consistent Ratings:</a:t>
            </a:r>
          </a:p>
          <a:p>
            <a:pPr marL="1833801" lvl="3" indent="-458450" algn="l">
              <a:lnSpc>
                <a:spcPts val="4246"/>
              </a:lnSpc>
              <a:buFont typeface="Arial"/>
              <a:buChar char="￭"/>
            </a:pPr>
            <a:r>
              <a:rPr lang="en-US" sz="2831">
                <a:solidFill>
                  <a:srgbClr val="D9D9D9"/>
                </a:solidFill>
                <a:latin typeface="Now"/>
                <a:ea typeface="Now"/>
                <a:cs typeface="Now"/>
                <a:sym typeface="Now"/>
              </a:rPr>
              <a:t> Urdu, Dzongkha, Kannada – Std Dev: 0</a:t>
            </a:r>
          </a:p>
          <a:p>
            <a:pPr algn="l">
              <a:lnSpc>
                <a:spcPts val="4246"/>
              </a:lnSpc>
            </a:pPr>
            <a:r>
              <a:rPr lang="en-US" sz="2831" b="1" u="sng">
                <a:solidFill>
                  <a:srgbClr val="D9D9D9"/>
                </a:solidFill>
                <a:latin typeface="Now Bold"/>
                <a:ea typeface="Now Bold"/>
                <a:cs typeface="Now Bold"/>
                <a:sym typeface="Now Bold"/>
              </a:rPr>
              <a:t>Observation:</a:t>
            </a:r>
          </a:p>
          <a:p>
            <a:pPr algn="l">
              <a:lnSpc>
                <a:spcPts val="4246"/>
              </a:lnSpc>
              <a:spcBef>
                <a:spcPct val="0"/>
              </a:spcBef>
            </a:pPr>
            <a:r>
              <a:rPr lang="en-US" sz="2831">
                <a:solidFill>
                  <a:srgbClr val="D9D9D9"/>
                </a:solidFill>
                <a:latin typeface="Now"/>
                <a:ea typeface="Now"/>
                <a:cs typeface="Now"/>
                <a:sym typeface="Now"/>
              </a:rPr>
              <a:t>Lesser-known languages often show higher or more consistent ratings, possibly due to niche audiences or curated content.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91000"/>
              </a:srgbClr>
            </a:gs>
            <a:gs pos="100000">
              <a:srgbClr val="33285C">
                <a:alpha val="100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1028700" y="2905938"/>
            <a:ext cx="16230600" cy="1703070"/>
          </a:xfrm>
          <a:prstGeom prst="rect">
            <a:avLst/>
          </a:prstGeom>
        </p:spPr>
        <p:txBody>
          <a:bodyPr lIns="0" tIns="0" rIns="0" bIns="0" rtlCol="0" anchor="t">
            <a:spAutoFit/>
          </a:bodyPr>
          <a:lstStyle/>
          <a:p>
            <a:pPr algn="l">
              <a:lnSpc>
                <a:spcPts val="4500"/>
              </a:lnSpc>
              <a:spcBef>
                <a:spcPct val="0"/>
              </a:spcBef>
            </a:pPr>
            <a:r>
              <a:rPr lang="en-US" sz="3000" b="1" u="sng">
                <a:solidFill>
                  <a:srgbClr val="D9D9D9"/>
                </a:solidFill>
                <a:latin typeface="Now Bold"/>
                <a:ea typeface="Now Bold"/>
                <a:cs typeface="Now Bold"/>
                <a:sym typeface="Now Bold"/>
              </a:rPr>
              <a:t>Objective:</a:t>
            </a:r>
          </a:p>
          <a:p>
            <a:pPr algn="l">
              <a:lnSpc>
                <a:spcPts val="4500"/>
              </a:lnSpc>
              <a:spcBef>
                <a:spcPct val="0"/>
              </a:spcBef>
            </a:pPr>
            <a:r>
              <a:rPr lang="en-US" sz="3000">
                <a:solidFill>
                  <a:srgbClr val="D9D9D9"/>
                </a:solidFill>
                <a:latin typeface="Now"/>
                <a:ea typeface="Now"/>
                <a:cs typeface="Now"/>
                <a:sym typeface="Now"/>
              </a:rPr>
              <a:t>To analyze the influence of directors on IMDB ratings by identifying top-performing directors and evaluating their contribution using percentile scores.</a:t>
            </a:r>
          </a:p>
        </p:txBody>
      </p:sp>
      <p:sp>
        <p:nvSpPr>
          <p:cNvPr id="3" name="TextBox 3"/>
          <p:cNvSpPr txBox="1"/>
          <p:nvPr/>
        </p:nvSpPr>
        <p:spPr>
          <a:xfrm>
            <a:off x="1028700" y="460977"/>
            <a:ext cx="16230600" cy="2275841"/>
          </a:xfrm>
          <a:prstGeom prst="rect">
            <a:avLst/>
          </a:prstGeom>
        </p:spPr>
        <p:txBody>
          <a:bodyPr lIns="0" tIns="0" rIns="0" bIns="0" rtlCol="0" anchor="t">
            <a:spAutoFit/>
          </a:bodyPr>
          <a:lstStyle/>
          <a:p>
            <a:pPr algn="ctr">
              <a:lnSpc>
                <a:spcPts val="11250"/>
              </a:lnSpc>
              <a:spcBef>
                <a:spcPct val="0"/>
              </a:spcBef>
            </a:pPr>
            <a:r>
              <a:rPr lang="en-US" sz="7500" b="1">
                <a:solidFill>
                  <a:srgbClr val="FDFEFE"/>
                </a:solidFill>
                <a:latin typeface="Now Bold"/>
                <a:ea typeface="Now Bold"/>
                <a:cs typeface="Now Bold"/>
                <a:sym typeface="Now Bold"/>
              </a:rPr>
              <a:t>DIRECTOR ANALYSIS -</a:t>
            </a:r>
          </a:p>
          <a:p>
            <a:pPr algn="ctr">
              <a:lnSpc>
                <a:spcPts val="5500"/>
              </a:lnSpc>
            </a:pPr>
            <a:r>
              <a:rPr lang="en-US" sz="5500" b="1">
                <a:solidFill>
                  <a:srgbClr val="FDFEFE"/>
                </a:solidFill>
                <a:latin typeface="Now Bold"/>
                <a:ea typeface="Now Bold"/>
                <a:cs typeface="Now Bold"/>
                <a:sym typeface="Now Bold"/>
              </a:rPr>
              <a:t>Objective &amp; Approach </a:t>
            </a:r>
          </a:p>
        </p:txBody>
      </p:sp>
      <p:sp>
        <p:nvSpPr>
          <p:cNvPr id="4" name="TextBox 4"/>
          <p:cNvSpPr txBox="1"/>
          <p:nvPr/>
        </p:nvSpPr>
        <p:spPr>
          <a:xfrm>
            <a:off x="1028700" y="4780458"/>
            <a:ext cx="16230600" cy="3417570"/>
          </a:xfrm>
          <a:prstGeom prst="rect">
            <a:avLst/>
          </a:prstGeom>
        </p:spPr>
        <p:txBody>
          <a:bodyPr lIns="0" tIns="0" rIns="0" bIns="0" rtlCol="0" anchor="t">
            <a:spAutoFit/>
          </a:bodyPr>
          <a:lstStyle/>
          <a:p>
            <a:pPr algn="l">
              <a:lnSpc>
                <a:spcPts val="4500"/>
              </a:lnSpc>
              <a:spcBef>
                <a:spcPct val="0"/>
              </a:spcBef>
            </a:pPr>
            <a:r>
              <a:rPr lang="en-US" sz="3000" b="1" u="sng">
                <a:solidFill>
                  <a:srgbClr val="D9D9D9"/>
                </a:solidFill>
                <a:latin typeface="Now Bold"/>
                <a:ea typeface="Now Bold"/>
                <a:cs typeface="Now Bold"/>
                <a:sym typeface="Now Bold"/>
              </a:rPr>
              <a:t>Approach:</a:t>
            </a:r>
          </a:p>
          <a:p>
            <a:pPr marL="647700" lvl="1" indent="-323850" algn="l">
              <a:lnSpc>
                <a:spcPts val="4500"/>
              </a:lnSpc>
              <a:buFont typeface="Arial"/>
              <a:buChar char="•"/>
            </a:pPr>
            <a:r>
              <a:rPr lang="en-US" sz="3000">
                <a:solidFill>
                  <a:srgbClr val="D9D9D9"/>
                </a:solidFill>
                <a:latin typeface="Now"/>
                <a:ea typeface="Now"/>
                <a:cs typeface="Now"/>
                <a:sym typeface="Now"/>
              </a:rPr>
              <a:t>Calculated average IMDB score per director using Excel Pivot Table.</a:t>
            </a:r>
          </a:p>
          <a:p>
            <a:pPr marL="647700" lvl="1" indent="-323850" algn="l">
              <a:lnSpc>
                <a:spcPts val="4500"/>
              </a:lnSpc>
              <a:buFont typeface="Arial"/>
              <a:buChar char="•"/>
            </a:pPr>
            <a:r>
              <a:rPr lang="en-US" sz="3000">
                <a:solidFill>
                  <a:srgbClr val="D9D9D9"/>
                </a:solidFill>
                <a:latin typeface="Now"/>
                <a:ea typeface="Now"/>
                <a:cs typeface="Now"/>
                <a:sym typeface="Now"/>
              </a:rPr>
              <a:t>Used PERCENTILE.EXC function to determine the cutoff for top directors (e.g., 90th percentile).</a:t>
            </a:r>
          </a:p>
          <a:p>
            <a:pPr marL="647700" lvl="1" indent="-323850" algn="l">
              <a:lnSpc>
                <a:spcPts val="4500"/>
              </a:lnSpc>
              <a:buFont typeface="Arial"/>
              <a:buChar char="•"/>
            </a:pPr>
            <a:r>
              <a:rPr lang="en-US" sz="3000">
                <a:solidFill>
                  <a:srgbClr val="D9D9D9"/>
                </a:solidFill>
                <a:latin typeface="Now"/>
                <a:ea typeface="Now"/>
                <a:cs typeface="Now"/>
                <a:sym typeface="Now"/>
              </a:rPr>
              <a:t>Filtered directors above the percentile threshold to identify the highest-rated.</a:t>
            </a:r>
          </a:p>
          <a:p>
            <a:pPr marL="647700" lvl="1" indent="-323850" algn="l">
              <a:lnSpc>
                <a:spcPts val="4500"/>
              </a:lnSpc>
              <a:buFont typeface="Arial"/>
              <a:buChar char="•"/>
            </a:pPr>
            <a:r>
              <a:rPr lang="en-US" sz="3000">
                <a:solidFill>
                  <a:srgbClr val="D9D9D9"/>
                </a:solidFill>
                <a:latin typeface="Now"/>
                <a:ea typeface="Now"/>
                <a:cs typeface="Now"/>
                <a:sym typeface="Now"/>
              </a:rPr>
              <a:t>Compared their scores to the overall distribution to highlight excellence.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91000"/>
              </a:srgbClr>
            </a:gs>
            <a:gs pos="100000">
              <a:srgbClr val="33285C">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2245157" y="2536873"/>
            <a:ext cx="4747377" cy="6964902"/>
          </a:xfrm>
          <a:custGeom>
            <a:avLst/>
            <a:gdLst/>
            <a:ahLst/>
            <a:cxnLst/>
            <a:rect l="l" t="t" r="r" b="b"/>
            <a:pathLst>
              <a:path w="4747377" h="6964902">
                <a:moveTo>
                  <a:pt x="0" y="0"/>
                </a:moveTo>
                <a:lnTo>
                  <a:pt x="4747377" y="0"/>
                </a:lnTo>
                <a:lnTo>
                  <a:pt x="4747377" y="6964901"/>
                </a:lnTo>
                <a:lnTo>
                  <a:pt x="0" y="6964901"/>
                </a:lnTo>
                <a:lnTo>
                  <a:pt x="0" y="0"/>
                </a:lnTo>
                <a:close/>
              </a:path>
            </a:pathLst>
          </a:custGeom>
          <a:blipFill>
            <a:blip r:embed="rId2"/>
            <a:stretch>
              <a:fillRect/>
            </a:stretch>
          </a:blipFill>
        </p:spPr>
      </p:sp>
      <p:sp>
        <p:nvSpPr>
          <p:cNvPr id="3" name="TextBox 3"/>
          <p:cNvSpPr txBox="1"/>
          <p:nvPr/>
        </p:nvSpPr>
        <p:spPr>
          <a:xfrm>
            <a:off x="1028700" y="596265"/>
            <a:ext cx="16230600" cy="1685291"/>
          </a:xfrm>
          <a:prstGeom prst="rect">
            <a:avLst/>
          </a:prstGeom>
        </p:spPr>
        <p:txBody>
          <a:bodyPr lIns="0" tIns="0" rIns="0" bIns="0" rtlCol="0" anchor="t">
            <a:spAutoFit/>
          </a:bodyPr>
          <a:lstStyle/>
          <a:p>
            <a:pPr algn="ctr">
              <a:lnSpc>
                <a:spcPts val="7500"/>
              </a:lnSpc>
              <a:spcBef>
                <a:spcPct val="0"/>
              </a:spcBef>
            </a:pPr>
            <a:r>
              <a:rPr lang="en-US" sz="7500" b="1">
                <a:solidFill>
                  <a:srgbClr val="FDFEFE"/>
                </a:solidFill>
                <a:latin typeface="Now Bold"/>
                <a:ea typeface="Now Bold"/>
                <a:cs typeface="Now Bold"/>
                <a:sym typeface="Now Bold"/>
              </a:rPr>
              <a:t>DIRECTOR ANALYSIS -</a:t>
            </a:r>
          </a:p>
          <a:p>
            <a:pPr algn="ctr">
              <a:lnSpc>
                <a:spcPts val="5500"/>
              </a:lnSpc>
              <a:spcBef>
                <a:spcPct val="0"/>
              </a:spcBef>
            </a:pPr>
            <a:r>
              <a:rPr lang="en-US" sz="5500" b="1">
                <a:solidFill>
                  <a:srgbClr val="FDFEFE"/>
                </a:solidFill>
                <a:latin typeface="Now Bold"/>
                <a:ea typeface="Now Bold"/>
                <a:cs typeface="Now Bold"/>
                <a:sym typeface="Now Bold"/>
              </a:rPr>
              <a:t>Insights </a:t>
            </a:r>
          </a:p>
        </p:txBody>
      </p:sp>
      <p:sp>
        <p:nvSpPr>
          <p:cNvPr id="4" name="TextBox 4"/>
          <p:cNvSpPr txBox="1"/>
          <p:nvPr/>
        </p:nvSpPr>
        <p:spPr>
          <a:xfrm>
            <a:off x="1028700" y="2441623"/>
            <a:ext cx="9252488" cy="7418070"/>
          </a:xfrm>
          <a:prstGeom prst="rect">
            <a:avLst/>
          </a:prstGeom>
        </p:spPr>
        <p:txBody>
          <a:bodyPr lIns="0" tIns="0" rIns="0" bIns="0" rtlCol="0" anchor="t">
            <a:spAutoFit/>
          </a:bodyPr>
          <a:lstStyle/>
          <a:p>
            <a:pPr algn="l">
              <a:lnSpc>
                <a:spcPts val="4500"/>
              </a:lnSpc>
            </a:pPr>
            <a:r>
              <a:rPr lang="en-US" sz="3000" b="1">
                <a:solidFill>
                  <a:srgbClr val="D9D9D9"/>
                </a:solidFill>
                <a:latin typeface="Now Bold"/>
                <a:ea typeface="Now Bold"/>
                <a:cs typeface="Now Bold"/>
                <a:sym typeface="Now Bold"/>
              </a:rPr>
              <a:t>Key Insights:</a:t>
            </a:r>
          </a:p>
          <a:p>
            <a:pPr marL="647700" lvl="1" indent="-323850" algn="l">
              <a:lnSpc>
                <a:spcPts val="4500"/>
              </a:lnSpc>
              <a:buFont typeface="Arial"/>
              <a:buChar char="•"/>
            </a:pPr>
            <a:r>
              <a:rPr lang="en-US" sz="3000">
                <a:solidFill>
                  <a:srgbClr val="D9D9D9"/>
                </a:solidFill>
                <a:latin typeface="Now"/>
                <a:ea typeface="Now"/>
                <a:cs typeface="Now"/>
                <a:sym typeface="Now"/>
              </a:rPr>
              <a:t>Directors like John Blanchard (9.5), Sadyk Sher-Niyaz (8.7), and Christopher Nolan (8.42) ranked among the highest.</a:t>
            </a:r>
          </a:p>
          <a:p>
            <a:pPr marL="647700" lvl="1" indent="-323850" algn="l">
              <a:lnSpc>
                <a:spcPts val="4500"/>
              </a:lnSpc>
              <a:buFont typeface="Arial"/>
              <a:buChar char="•"/>
            </a:pPr>
            <a:r>
              <a:rPr lang="en-US" sz="3000">
                <a:solidFill>
                  <a:srgbClr val="D9D9D9"/>
                </a:solidFill>
                <a:latin typeface="Now"/>
                <a:ea typeface="Now"/>
                <a:cs typeface="Now"/>
                <a:sym typeface="Now"/>
              </a:rPr>
              <a:t>Top directors consistently scored above the 75th percentile, indicating strong influence on movie success.</a:t>
            </a:r>
          </a:p>
          <a:p>
            <a:pPr marL="647700" lvl="1" indent="-323850" algn="l">
              <a:lnSpc>
                <a:spcPts val="4500"/>
              </a:lnSpc>
              <a:buFont typeface="Arial"/>
              <a:buChar char="•"/>
            </a:pPr>
            <a:r>
              <a:rPr lang="en-US" sz="3000">
                <a:solidFill>
                  <a:srgbClr val="D9D9D9"/>
                </a:solidFill>
                <a:latin typeface="Now"/>
                <a:ea typeface="Now"/>
                <a:cs typeface="Now"/>
                <a:sym typeface="Now"/>
              </a:rPr>
              <a:t>Directors with 8.2+ average IMDB scores formed the top tier.</a:t>
            </a:r>
          </a:p>
          <a:p>
            <a:pPr marL="647700" lvl="1" indent="-323850" algn="l">
              <a:lnSpc>
                <a:spcPts val="4500"/>
              </a:lnSpc>
              <a:buFont typeface="Arial"/>
              <a:buChar char="•"/>
            </a:pPr>
            <a:r>
              <a:rPr lang="en-US" sz="3000">
                <a:solidFill>
                  <a:srgbClr val="D9D9D9"/>
                </a:solidFill>
                <a:latin typeface="Now"/>
                <a:ea typeface="Now"/>
                <a:cs typeface="Now"/>
                <a:sym typeface="Now"/>
              </a:rPr>
              <a:t>The list includes filmmakers from diverse genres and cultural backgrounds, proving that high-quality storytelling transcends boundaries.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91000"/>
              </a:srgbClr>
            </a:gs>
            <a:gs pos="100000">
              <a:srgbClr val="33285C">
                <a:alpha val="100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1028700" y="4159867"/>
            <a:ext cx="16230600" cy="2846070"/>
          </a:xfrm>
          <a:prstGeom prst="rect">
            <a:avLst/>
          </a:prstGeom>
        </p:spPr>
        <p:txBody>
          <a:bodyPr lIns="0" tIns="0" rIns="0" bIns="0" rtlCol="0" anchor="t">
            <a:spAutoFit/>
          </a:bodyPr>
          <a:lstStyle/>
          <a:p>
            <a:pPr algn="l">
              <a:lnSpc>
                <a:spcPts val="4500"/>
              </a:lnSpc>
            </a:pPr>
            <a:r>
              <a:rPr lang="en-US" sz="3000" b="1" u="sng">
                <a:solidFill>
                  <a:srgbClr val="D9D9D9"/>
                </a:solidFill>
                <a:latin typeface="Now Bold"/>
                <a:ea typeface="Now Bold"/>
                <a:cs typeface="Now Bold"/>
                <a:sym typeface="Now Bold"/>
              </a:rPr>
              <a:t>Approach:</a:t>
            </a:r>
          </a:p>
          <a:p>
            <a:pPr algn="l">
              <a:lnSpc>
                <a:spcPts val="4500"/>
              </a:lnSpc>
            </a:pPr>
            <a:r>
              <a:rPr lang="en-US" sz="3000">
                <a:solidFill>
                  <a:srgbClr val="D9D9D9"/>
                </a:solidFill>
                <a:latin typeface="Now"/>
                <a:ea typeface="Now"/>
                <a:cs typeface="Now"/>
                <a:sym typeface="Now"/>
              </a:rPr>
              <a:t> • Filtered dataset to exclude rows with missing budget or gross values.</a:t>
            </a:r>
          </a:p>
          <a:p>
            <a:pPr algn="l">
              <a:lnSpc>
                <a:spcPts val="4500"/>
              </a:lnSpc>
            </a:pPr>
            <a:r>
              <a:rPr lang="en-US" sz="3000">
                <a:solidFill>
                  <a:srgbClr val="D9D9D9"/>
                </a:solidFill>
                <a:latin typeface="Now"/>
                <a:ea typeface="Now"/>
                <a:cs typeface="Now"/>
                <a:sym typeface="Now"/>
              </a:rPr>
              <a:t> • Calculated Profit Margin as Gross – Budget.</a:t>
            </a:r>
          </a:p>
          <a:p>
            <a:pPr algn="l">
              <a:lnSpc>
                <a:spcPts val="4500"/>
              </a:lnSpc>
            </a:pPr>
            <a:r>
              <a:rPr lang="en-US" sz="3000">
                <a:solidFill>
                  <a:srgbClr val="D9D9D9"/>
                </a:solidFill>
                <a:latin typeface="Now"/>
                <a:ea typeface="Now"/>
                <a:cs typeface="Now"/>
                <a:sym typeface="Now"/>
              </a:rPr>
              <a:t> • Used Excel's CORREL function to find correlation between Budget and Gross.</a:t>
            </a:r>
          </a:p>
          <a:p>
            <a:pPr algn="l">
              <a:lnSpc>
                <a:spcPts val="4500"/>
              </a:lnSpc>
            </a:pPr>
            <a:r>
              <a:rPr lang="en-US" sz="3000">
                <a:solidFill>
                  <a:srgbClr val="D9D9D9"/>
                </a:solidFill>
                <a:latin typeface="Now"/>
                <a:ea typeface="Now"/>
                <a:cs typeface="Now"/>
                <a:sym typeface="Now"/>
              </a:rPr>
              <a:t> • Used MAX and INDEX + MATCH to find the movie with the highest profit margin</a:t>
            </a:r>
          </a:p>
        </p:txBody>
      </p:sp>
      <p:sp>
        <p:nvSpPr>
          <p:cNvPr id="3" name="Freeform 3"/>
          <p:cNvSpPr/>
          <p:nvPr/>
        </p:nvSpPr>
        <p:spPr>
          <a:xfrm>
            <a:off x="2491616" y="7371679"/>
            <a:ext cx="12779612" cy="2192962"/>
          </a:xfrm>
          <a:custGeom>
            <a:avLst/>
            <a:gdLst/>
            <a:ahLst/>
            <a:cxnLst/>
            <a:rect l="l" t="t" r="r" b="b"/>
            <a:pathLst>
              <a:path w="12779612" h="2192962">
                <a:moveTo>
                  <a:pt x="0" y="0"/>
                </a:moveTo>
                <a:lnTo>
                  <a:pt x="12779612" y="0"/>
                </a:lnTo>
                <a:lnTo>
                  <a:pt x="12779612" y="2192962"/>
                </a:lnTo>
                <a:lnTo>
                  <a:pt x="0" y="2192962"/>
                </a:lnTo>
                <a:lnTo>
                  <a:pt x="0" y="0"/>
                </a:lnTo>
                <a:close/>
              </a:path>
            </a:pathLst>
          </a:custGeom>
          <a:blipFill>
            <a:blip r:embed="rId2"/>
            <a:stretch>
              <a:fillRect l="-684"/>
            </a:stretch>
          </a:blipFill>
        </p:spPr>
      </p:sp>
      <p:sp>
        <p:nvSpPr>
          <p:cNvPr id="4" name="TextBox 4"/>
          <p:cNvSpPr txBox="1"/>
          <p:nvPr/>
        </p:nvSpPr>
        <p:spPr>
          <a:xfrm>
            <a:off x="1028700" y="2369176"/>
            <a:ext cx="16230600" cy="1703070"/>
          </a:xfrm>
          <a:prstGeom prst="rect">
            <a:avLst/>
          </a:prstGeom>
        </p:spPr>
        <p:txBody>
          <a:bodyPr lIns="0" tIns="0" rIns="0" bIns="0" rtlCol="0" anchor="t">
            <a:spAutoFit/>
          </a:bodyPr>
          <a:lstStyle/>
          <a:p>
            <a:pPr algn="l">
              <a:lnSpc>
                <a:spcPts val="4500"/>
              </a:lnSpc>
            </a:pPr>
            <a:r>
              <a:rPr lang="en-US" sz="3000" b="1" u="sng">
                <a:solidFill>
                  <a:srgbClr val="D9D9D9"/>
                </a:solidFill>
                <a:latin typeface="Now Bold"/>
                <a:ea typeface="Now Bold"/>
                <a:cs typeface="Now Bold"/>
                <a:sym typeface="Now Bold"/>
              </a:rPr>
              <a:t>Objective:</a:t>
            </a:r>
          </a:p>
          <a:p>
            <a:pPr algn="l">
              <a:lnSpc>
                <a:spcPts val="4500"/>
              </a:lnSpc>
            </a:pPr>
            <a:r>
              <a:rPr lang="en-US" sz="3000">
                <a:solidFill>
                  <a:srgbClr val="D9D9D9"/>
                </a:solidFill>
                <a:latin typeface="Now"/>
                <a:ea typeface="Now"/>
                <a:cs typeface="Now"/>
                <a:sym typeface="Now"/>
              </a:rPr>
              <a:t> To explore the relationship between movie budgets and financial success using correlation and profit margin analysis.</a:t>
            </a:r>
          </a:p>
        </p:txBody>
      </p:sp>
      <p:sp>
        <p:nvSpPr>
          <p:cNvPr id="5" name="TextBox 5"/>
          <p:cNvSpPr txBox="1"/>
          <p:nvPr/>
        </p:nvSpPr>
        <p:spPr>
          <a:xfrm>
            <a:off x="1028700" y="596265"/>
            <a:ext cx="16085899" cy="1685290"/>
          </a:xfrm>
          <a:prstGeom prst="rect">
            <a:avLst/>
          </a:prstGeom>
        </p:spPr>
        <p:txBody>
          <a:bodyPr lIns="0" tIns="0" rIns="0" bIns="0" rtlCol="0" anchor="t">
            <a:spAutoFit/>
          </a:bodyPr>
          <a:lstStyle/>
          <a:p>
            <a:pPr algn="ctr">
              <a:lnSpc>
                <a:spcPts val="7500"/>
              </a:lnSpc>
            </a:pPr>
            <a:r>
              <a:rPr lang="en-US" sz="7500" b="1">
                <a:solidFill>
                  <a:srgbClr val="FDFEFE"/>
                </a:solidFill>
                <a:latin typeface="Now Bold"/>
                <a:ea typeface="Now Bold"/>
                <a:cs typeface="Now Bold"/>
                <a:sym typeface="Now Bold"/>
              </a:rPr>
              <a:t>BUDGET ANALYSIS -</a:t>
            </a:r>
          </a:p>
          <a:p>
            <a:pPr algn="ctr">
              <a:lnSpc>
                <a:spcPts val="5499"/>
              </a:lnSpc>
            </a:pPr>
            <a:r>
              <a:rPr lang="en-US" sz="5499" b="1">
                <a:solidFill>
                  <a:srgbClr val="FDFEFE"/>
                </a:solidFill>
                <a:latin typeface="Now Bold"/>
                <a:ea typeface="Now Bold"/>
                <a:cs typeface="Now Bold"/>
                <a:sym typeface="Now Bold"/>
              </a:rPr>
              <a:t>Objective &amp; Approach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91000"/>
              </a:srgbClr>
            </a:gs>
            <a:gs pos="100000">
              <a:srgbClr val="33285C">
                <a:alpha val="100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1028700" y="3158428"/>
            <a:ext cx="16230600" cy="4311015"/>
          </a:xfrm>
          <a:prstGeom prst="rect">
            <a:avLst/>
          </a:prstGeom>
        </p:spPr>
        <p:txBody>
          <a:bodyPr lIns="0" tIns="0" rIns="0" bIns="0" rtlCol="0" anchor="t">
            <a:spAutoFit/>
          </a:bodyPr>
          <a:lstStyle/>
          <a:p>
            <a:pPr algn="l">
              <a:lnSpc>
                <a:spcPts val="4949"/>
              </a:lnSpc>
              <a:spcBef>
                <a:spcPct val="0"/>
              </a:spcBef>
            </a:pPr>
            <a:r>
              <a:rPr lang="en-US" sz="3299" b="1" u="sng">
                <a:solidFill>
                  <a:srgbClr val="D9D9D9"/>
                </a:solidFill>
                <a:latin typeface="Now Bold"/>
                <a:ea typeface="Now Bold"/>
                <a:cs typeface="Now Bold"/>
                <a:sym typeface="Now Bold"/>
              </a:rPr>
              <a:t>Insights:</a:t>
            </a:r>
          </a:p>
          <a:p>
            <a:pPr marL="712468" lvl="1" indent="-356234" algn="l">
              <a:lnSpc>
                <a:spcPts val="4949"/>
              </a:lnSpc>
              <a:buFont typeface="Arial"/>
              <a:buChar char="•"/>
            </a:pPr>
            <a:r>
              <a:rPr lang="en-US" sz="3299">
                <a:solidFill>
                  <a:srgbClr val="D9D9D9"/>
                </a:solidFill>
                <a:latin typeface="Now"/>
                <a:ea typeface="Now"/>
                <a:cs typeface="Now"/>
                <a:sym typeface="Now"/>
              </a:rPr>
              <a:t> There is a weak positive correlation between budget and gross revenue (~0.10), suggesting that bigger budgets don’t always guarantee higher returns.</a:t>
            </a:r>
          </a:p>
          <a:p>
            <a:pPr marL="712468" lvl="1" indent="-356234" algn="l">
              <a:lnSpc>
                <a:spcPts val="4949"/>
              </a:lnSpc>
              <a:buFont typeface="Arial"/>
              <a:buChar char="•"/>
            </a:pPr>
            <a:r>
              <a:rPr lang="en-US" sz="3299">
                <a:solidFill>
                  <a:srgbClr val="D9D9D9"/>
                </a:solidFill>
                <a:latin typeface="Now"/>
                <a:ea typeface="Now"/>
                <a:cs typeface="Now"/>
                <a:sym typeface="Now"/>
              </a:rPr>
              <a:t> Some low-budget films achieved impressive profits, indicating strong content or marketing.</a:t>
            </a:r>
          </a:p>
          <a:p>
            <a:pPr marL="712468" lvl="1" indent="-356234" algn="l">
              <a:lnSpc>
                <a:spcPts val="4949"/>
              </a:lnSpc>
              <a:buFont typeface="Arial"/>
              <a:buChar char="•"/>
            </a:pPr>
            <a:r>
              <a:rPr lang="en-US" sz="3299">
                <a:solidFill>
                  <a:srgbClr val="D9D9D9"/>
                </a:solidFill>
                <a:latin typeface="Now"/>
                <a:ea typeface="Now"/>
                <a:cs typeface="Now"/>
                <a:sym typeface="Now"/>
              </a:rPr>
              <a:t> Avatar had the highest profit margin in the dataset.</a:t>
            </a:r>
          </a:p>
        </p:txBody>
      </p:sp>
      <p:sp>
        <p:nvSpPr>
          <p:cNvPr id="3" name="TextBox 3"/>
          <p:cNvSpPr txBox="1"/>
          <p:nvPr/>
        </p:nvSpPr>
        <p:spPr>
          <a:xfrm>
            <a:off x="1028700" y="1171575"/>
            <a:ext cx="16230600" cy="1685290"/>
          </a:xfrm>
          <a:prstGeom prst="rect">
            <a:avLst/>
          </a:prstGeom>
        </p:spPr>
        <p:txBody>
          <a:bodyPr lIns="0" tIns="0" rIns="0" bIns="0" rtlCol="0" anchor="t">
            <a:spAutoFit/>
          </a:bodyPr>
          <a:lstStyle/>
          <a:p>
            <a:pPr algn="ctr">
              <a:lnSpc>
                <a:spcPts val="7500"/>
              </a:lnSpc>
              <a:spcBef>
                <a:spcPct val="0"/>
              </a:spcBef>
            </a:pPr>
            <a:r>
              <a:rPr lang="en-US" sz="7500" b="1">
                <a:solidFill>
                  <a:srgbClr val="FDFEFE"/>
                </a:solidFill>
                <a:latin typeface="Now Bold"/>
                <a:ea typeface="Now Bold"/>
                <a:cs typeface="Now Bold"/>
                <a:sym typeface="Now Bold"/>
              </a:rPr>
              <a:t>BUDGET ANALYSIS -</a:t>
            </a:r>
          </a:p>
          <a:p>
            <a:pPr algn="ctr">
              <a:lnSpc>
                <a:spcPts val="5499"/>
              </a:lnSpc>
              <a:spcBef>
                <a:spcPct val="0"/>
              </a:spcBef>
            </a:pPr>
            <a:r>
              <a:rPr lang="en-US" sz="5499" b="1">
                <a:solidFill>
                  <a:srgbClr val="FDFEFE"/>
                </a:solidFill>
                <a:latin typeface="Now Bold"/>
                <a:ea typeface="Now Bold"/>
                <a:cs typeface="Now Bold"/>
                <a:sym typeface="Now Bold"/>
              </a:rPr>
              <a:t>Insights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91000"/>
              </a:srgbClr>
            </a:gs>
            <a:gs pos="100000">
              <a:srgbClr val="33285C">
                <a:alpha val="100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1028700" y="2815258"/>
            <a:ext cx="16230600" cy="5541645"/>
          </a:xfrm>
          <a:prstGeom prst="rect">
            <a:avLst/>
          </a:prstGeom>
        </p:spPr>
        <p:txBody>
          <a:bodyPr lIns="0" tIns="0" rIns="0" bIns="0" rtlCol="0" anchor="t">
            <a:spAutoFit/>
          </a:bodyPr>
          <a:lstStyle/>
          <a:p>
            <a:pPr marL="712468" lvl="1" indent="-356234" algn="just">
              <a:lnSpc>
                <a:spcPts val="4949"/>
              </a:lnSpc>
              <a:buFont typeface="Arial"/>
              <a:buChar char="•"/>
            </a:pPr>
            <a:r>
              <a:rPr lang="en-US" sz="3299">
                <a:solidFill>
                  <a:srgbClr val="D9D9D9"/>
                </a:solidFill>
                <a:latin typeface="Now"/>
                <a:ea typeface="Now"/>
                <a:cs typeface="Now"/>
                <a:sym typeface="Now"/>
              </a:rPr>
              <a:t>Drama, Comedy, and Action were the most frequent genres; Film-Noir had the highest average rating.</a:t>
            </a:r>
          </a:p>
          <a:p>
            <a:pPr marL="712468" lvl="1" indent="-356234" algn="just">
              <a:lnSpc>
                <a:spcPts val="4949"/>
              </a:lnSpc>
              <a:buFont typeface="Arial"/>
              <a:buChar char="•"/>
            </a:pPr>
            <a:r>
              <a:rPr lang="en-US" sz="3299">
                <a:solidFill>
                  <a:srgbClr val="D9D9D9"/>
                </a:solidFill>
                <a:latin typeface="Now"/>
                <a:ea typeface="Now"/>
                <a:cs typeface="Now"/>
                <a:sym typeface="Now"/>
              </a:rPr>
              <a:t>Longer movies showed a weak positive correlation with higher IMDB ratings.</a:t>
            </a:r>
          </a:p>
          <a:p>
            <a:pPr marL="712468" lvl="1" indent="-356234" algn="just">
              <a:lnSpc>
                <a:spcPts val="4949"/>
              </a:lnSpc>
              <a:buFont typeface="Arial"/>
              <a:buChar char="•"/>
            </a:pPr>
            <a:r>
              <a:rPr lang="en-US" sz="3299">
                <a:solidFill>
                  <a:srgbClr val="D9D9D9"/>
                </a:solidFill>
                <a:latin typeface="Now"/>
                <a:ea typeface="Now"/>
                <a:cs typeface="Now"/>
                <a:sym typeface="Now"/>
              </a:rPr>
              <a:t>English was the dominant language, but some non-English films scored higher on average.</a:t>
            </a:r>
          </a:p>
          <a:p>
            <a:pPr marL="712468" lvl="1" indent="-356234" algn="just">
              <a:lnSpc>
                <a:spcPts val="4949"/>
              </a:lnSpc>
              <a:buFont typeface="Arial"/>
              <a:buChar char="•"/>
            </a:pPr>
            <a:r>
              <a:rPr lang="en-US" sz="3299">
                <a:solidFill>
                  <a:srgbClr val="D9D9D9"/>
                </a:solidFill>
                <a:latin typeface="Now"/>
                <a:ea typeface="Now"/>
                <a:cs typeface="Now"/>
                <a:sym typeface="Now"/>
              </a:rPr>
              <a:t>Top directors (based on percentiles) consistently delivered higher-rated movies.</a:t>
            </a:r>
          </a:p>
          <a:p>
            <a:pPr marL="712468" lvl="1" indent="-356234" algn="just">
              <a:lnSpc>
                <a:spcPts val="4949"/>
              </a:lnSpc>
              <a:buFont typeface="Arial"/>
              <a:buChar char="•"/>
            </a:pPr>
            <a:r>
              <a:rPr lang="en-US" sz="3299">
                <a:solidFill>
                  <a:srgbClr val="D9D9D9"/>
                </a:solidFill>
                <a:latin typeface="Now"/>
                <a:ea typeface="Now"/>
                <a:cs typeface="Now"/>
                <a:sym typeface="Now"/>
              </a:rPr>
              <a:t>Budget vs. Gross showed a moderate positive correlation; however, profit margins varied widely.</a:t>
            </a:r>
          </a:p>
        </p:txBody>
      </p:sp>
      <p:sp>
        <p:nvSpPr>
          <p:cNvPr id="3" name="TextBox 3"/>
          <p:cNvSpPr txBox="1"/>
          <p:nvPr/>
        </p:nvSpPr>
        <p:spPr>
          <a:xfrm>
            <a:off x="1028700" y="1171575"/>
            <a:ext cx="16230600" cy="1007745"/>
          </a:xfrm>
          <a:prstGeom prst="rect">
            <a:avLst/>
          </a:prstGeom>
        </p:spPr>
        <p:txBody>
          <a:bodyPr lIns="0" tIns="0" rIns="0" bIns="0" rtlCol="0" anchor="t">
            <a:spAutoFit/>
          </a:bodyPr>
          <a:lstStyle/>
          <a:p>
            <a:pPr algn="ctr">
              <a:lnSpc>
                <a:spcPts val="7500"/>
              </a:lnSpc>
              <a:spcBef>
                <a:spcPct val="0"/>
              </a:spcBef>
            </a:pPr>
            <a:r>
              <a:rPr lang="en-US" sz="7500" b="1">
                <a:solidFill>
                  <a:srgbClr val="FDFEFE"/>
                </a:solidFill>
                <a:latin typeface="Now Bold"/>
                <a:ea typeface="Now Bold"/>
                <a:cs typeface="Now Bold"/>
                <a:sym typeface="Now Bold"/>
              </a:rPr>
              <a:t>INSIGHTS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91000"/>
              </a:srgbClr>
            </a:gs>
            <a:gs pos="100000">
              <a:srgbClr val="33285C">
                <a:alpha val="100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1028700" y="1171575"/>
            <a:ext cx="16230600" cy="1007745"/>
          </a:xfrm>
          <a:prstGeom prst="rect">
            <a:avLst/>
          </a:prstGeom>
        </p:spPr>
        <p:txBody>
          <a:bodyPr lIns="0" tIns="0" rIns="0" bIns="0" rtlCol="0" anchor="t">
            <a:spAutoFit/>
          </a:bodyPr>
          <a:lstStyle/>
          <a:p>
            <a:pPr algn="ctr">
              <a:lnSpc>
                <a:spcPts val="7500"/>
              </a:lnSpc>
              <a:spcBef>
                <a:spcPct val="0"/>
              </a:spcBef>
            </a:pPr>
            <a:r>
              <a:rPr lang="en-US" sz="7500" b="1">
                <a:solidFill>
                  <a:srgbClr val="FDFEFE"/>
                </a:solidFill>
                <a:latin typeface="Now Bold"/>
                <a:ea typeface="Now Bold"/>
                <a:cs typeface="Now Bold"/>
                <a:sym typeface="Now Bold"/>
              </a:rPr>
              <a:t>RESULT</a:t>
            </a:r>
          </a:p>
        </p:txBody>
      </p:sp>
      <p:sp>
        <p:nvSpPr>
          <p:cNvPr id="3" name="TextBox 3"/>
          <p:cNvSpPr txBox="1"/>
          <p:nvPr/>
        </p:nvSpPr>
        <p:spPr>
          <a:xfrm>
            <a:off x="1028700" y="2530799"/>
            <a:ext cx="16230600" cy="5516880"/>
          </a:xfrm>
          <a:prstGeom prst="rect">
            <a:avLst/>
          </a:prstGeom>
        </p:spPr>
        <p:txBody>
          <a:bodyPr lIns="0" tIns="0" rIns="0" bIns="0" rtlCol="0" anchor="t">
            <a:spAutoFit/>
          </a:bodyPr>
          <a:lstStyle/>
          <a:p>
            <a:pPr marL="798828" lvl="1" indent="-399414" algn="l">
              <a:lnSpc>
                <a:spcPts val="5549"/>
              </a:lnSpc>
              <a:buFont typeface="Arial"/>
              <a:buChar char="•"/>
            </a:pPr>
            <a:r>
              <a:rPr lang="en-US" sz="3699">
                <a:solidFill>
                  <a:srgbClr val="D9D9D9"/>
                </a:solidFill>
                <a:latin typeface="Now"/>
                <a:ea typeface="Now"/>
                <a:cs typeface="Now"/>
                <a:sym typeface="Now"/>
              </a:rPr>
              <a:t>Gained practical experience in cleaning and analyzing real-world data</a:t>
            </a:r>
          </a:p>
          <a:p>
            <a:pPr marL="798828" lvl="1" indent="-399414" algn="l">
              <a:lnSpc>
                <a:spcPts val="5549"/>
              </a:lnSpc>
              <a:buFont typeface="Arial"/>
              <a:buChar char="•"/>
            </a:pPr>
            <a:r>
              <a:rPr lang="en-US" sz="3699">
                <a:solidFill>
                  <a:srgbClr val="D9D9D9"/>
                </a:solidFill>
                <a:latin typeface="Now"/>
                <a:ea typeface="Now"/>
                <a:cs typeface="Now"/>
                <a:sym typeface="Now"/>
              </a:rPr>
              <a:t>Improved Excel skills: used functions, Pivot Tables, and Power Query</a:t>
            </a:r>
          </a:p>
          <a:p>
            <a:pPr marL="798828" lvl="1" indent="-399414" algn="l">
              <a:lnSpc>
                <a:spcPts val="5549"/>
              </a:lnSpc>
              <a:buFont typeface="Arial"/>
              <a:buChar char="•"/>
            </a:pPr>
            <a:r>
              <a:rPr lang="en-US" sz="3699">
                <a:solidFill>
                  <a:srgbClr val="D9D9D9"/>
                </a:solidFill>
                <a:latin typeface="Now"/>
                <a:ea typeface="Now"/>
                <a:cs typeface="Now"/>
                <a:sym typeface="Now"/>
              </a:rPr>
              <a:t>Understood how genres, budgets, and directors impact movie success</a:t>
            </a:r>
          </a:p>
          <a:p>
            <a:pPr marL="798828" lvl="1" indent="-399414" algn="l">
              <a:lnSpc>
                <a:spcPts val="5549"/>
              </a:lnSpc>
              <a:buFont typeface="Arial"/>
              <a:buChar char="•"/>
            </a:pPr>
            <a:r>
              <a:rPr lang="en-US" sz="3699">
                <a:solidFill>
                  <a:srgbClr val="D9D9D9"/>
                </a:solidFill>
                <a:latin typeface="Now"/>
                <a:ea typeface="Now"/>
                <a:cs typeface="Now"/>
                <a:sym typeface="Now"/>
              </a:rPr>
              <a:t>Learned to apply statistical methods to draw actionable insights</a:t>
            </a:r>
          </a:p>
          <a:p>
            <a:pPr marL="798828" lvl="1" indent="-399414" algn="l">
              <a:lnSpc>
                <a:spcPts val="5549"/>
              </a:lnSpc>
              <a:buFont typeface="Arial"/>
              <a:buChar char="•"/>
            </a:pPr>
            <a:r>
              <a:rPr lang="en-US" sz="3699">
                <a:solidFill>
                  <a:srgbClr val="D9D9D9"/>
                </a:solidFill>
                <a:latin typeface="Now"/>
                <a:ea typeface="Now"/>
                <a:cs typeface="Now"/>
                <a:sym typeface="Now"/>
              </a:rPr>
              <a:t>Enhanced data storytelling and presentation skills through visualization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00000">
                <a:alpha val="91000"/>
              </a:srgbClr>
            </a:gs>
            <a:gs pos="100000">
              <a:srgbClr val="33285C">
                <a:alpha val="100000"/>
              </a:srgbClr>
            </a:gs>
          </a:gsLst>
          <a:lin ang="2700000"/>
        </a:gradFill>
        <a:effectLst/>
      </p:bgPr>
    </p:bg>
    <p:spTree>
      <p:nvGrpSpPr>
        <p:cNvPr id="1" name=""/>
        <p:cNvGrpSpPr/>
        <p:nvPr/>
      </p:nvGrpSpPr>
      <p:grpSpPr>
        <a:xfrm>
          <a:off x="0" y="0"/>
          <a:ext cx="0" cy="0"/>
          <a:chOff x="0" y="0"/>
          <a:chExt cx="0" cy="0"/>
        </a:xfrm>
      </p:grpSpPr>
      <p:sp>
        <p:nvSpPr>
          <p:cNvPr id="2" name="TextBox 2"/>
          <p:cNvSpPr txBox="1"/>
          <p:nvPr/>
        </p:nvSpPr>
        <p:spPr>
          <a:xfrm>
            <a:off x="1028700" y="3946843"/>
            <a:ext cx="16230600" cy="2155189"/>
          </a:xfrm>
          <a:prstGeom prst="rect">
            <a:avLst/>
          </a:prstGeom>
        </p:spPr>
        <p:txBody>
          <a:bodyPr lIns="0" tIns="0" rIns="0" bIns="0" rtlCol="0" anchor="t">
            <a:spAutoFit/>
          </a:bodyPr>
          <a:lstStyle/>
          <a:p>
            <a:pPr marL="0" lvl="0" indent="0" algn="ctr">
              <a:lnSpc>
                <a:spcPts val="17500"/>
              </a:lnSpc>
              <a:spcBef>
                <a:spcPct val="0"/>
              </a:spcBef>
            </a:pPr>
            <a:r>
              <a:rPr lang="en-US" sz="12500" b="1">
                <a:solidFill>
                  <a:srgbClr val="FFFFFF"/>
                </a:solidFill>
                <a:latin typeface="Now Bold"/>
                <a:ea typeface="Now Bold"/>
                <a:cs typeface="Now Bold"/>
                <a:sym typeface="Now Bold"/>
              </a:rPr>
              <a:t>THANK YOU</a:t>
            </a:r>
          </a:p>
        </p:txBody>
      </p:sp>
      <p:grpSp>
        <p:nvGrpSpPr>
          <p:cNvPr id="3" name="Group 3"/>
          <p:cNvGrpSpPr/>
          <p:nvPr/>
        </p:nvGrpSpPr>
        <p:grpSpPr>
          <a:xfrm>
            <a:off x="14533478" y="6532478"/>
            <a:ext cx="3754522" cy="3754522"/>
            <a:chOff x="0" y="0"/>
            <a:chExt cx="5006029" cy="5006029"/>
          </a:xfrm>
        </p:grpSpPr>
        <p:grpSp>
          <p:nvGrpSpPr>
            <p:cNvPr id="4" name="Group 4"/>
            <p:cNvGrpSpPr/>
            <p:nvPr/>
          </p:nvGrpSpPr>
          <p:grpSpPr>
            <a:xfrm>
              <a:off x="2503014" y="2503014"/>
              <a:ext cx="1251507" cy="1251507"/>
              <a:chOff x="0" y="0"/>
              <a:chExt cx="1913890" cy="1913890"/>
            </a:xfrm>
          </p:grpSpPr>
          <p:sp>
            <p:nvSpPr>
              <p:cNvPr id="5" name="Freeform 5"/>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221E34"/>
              </a:solidFill>
            </p:spPr>
          </p:sp>
        </p:grpSp>
        <p:grpSp>
          <p:nvGrpSpPr>
            <p:cNvPr id="6" name="Group 6"/>
            <p:cNvGrpSpPr/>
            <p:nvPr/>
          </p:nvGrpSpPr>
          <p:grpSpPr>
            <a:xfrm>
              <a:off x="2503014" y="1251507"/>
              <a:ext cx="1251507" cy="1251507"/>
              <a:chOff x="0" y="0"/>
              <a:chExt cx="1913890" cy="1913890"/>
            </a:xfrm>
          </p:grpSpPr>
          <p:sp>
            <p:nvSpPr>
              <p:cNvPr id="7" name="Freeform 7"/>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221E34"/>
              </a:solidFill>
            </p:spPr>
          </p:sp>
        </p:grpSp>
        <p:grpSp>
          <p:nvGrpSpPr>
            <p:cNvPr id="8" name="Group 8"/>
            <p:cNvGrpSpPr/>
            <p:nvPr/>
          </p:nvGrpSpPr>
          <p:grpSpPr>
            <a:xfrm>
              <a:off x="1251507" y="2503014"/>
              <a:ext cx="1251507" cy="1251507"/>
              <a:chOff x="0" y="0"/>
              <a:chExt cx="1913890" cy="1913890"/>
            </a:xfrm>
          </p:grpSpPr>
          <p:sp>
            <p:nvSpPr>
              <p:cNvPr id="9" name="Freeform 9"/>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FFFFFF"/>
              </a:solidFill>
            </p:spPr>
          </p:sp>
        </p:grpSp>
        <p:grpSp>
          <p:nvGrpSpPr>
            <p:cNvPr id="10" name="Group 10"/>
            <p:cNvGrpSpPr/>
            <p:nvPr/>
          </p:nvGrpSpPr>
          <p:grpSpPr>
            <a:xfrm>
              <a:off x="3754522" y="3754522"/>
              <a:ext cx="1251507" cy="1251507"/>
              <a:chOff x="0" y="0"/>
              <a:chExt cx="1913890" cy="1913890"/>
            </a:xfrm>
          </p:grpSpPr>
          <p:sp>
            <p:nvSpPr>
              <p:cNvPr id="11" name="Freeform 11"/>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221E34"/>
              </a:solidFill>
            </p:spPr>
          </p:sp>
        </p:grpSp>
        <p:grpSp>
          <p:nvGrpSpPr>
            <p:cNvPr id="12" name="Group 12"/>
            <p:cNvGrpSpPr/>
            <p:nvPr/>
          </p:nvGrpSpPr>
          <p:grpSpPr>
            <a:xfrm>
              <a:off x="3754522" y="2503014"/>
              <a:ext cx="1251507" cy="1251507"/>
              <a:chOff x="0" y="0"/>
              <a:chExt cx="1913890" cy="1913890"/>
            </a:xfrm>
          </p:grpSpPr>
          <p:sp>
            <p:nvSpPr>
              <p:cNvPr id="13" name="Freeform 13"/>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FFFFFF"/>
              </a:solidFill>
            </p:spPr>
          </p:sp>
        </p:grpSp>
        <p:grpSp>
          <p:nvGrpSpPr>
            <p:cNvPr id="14" name="Group 14"/>
            <p:cNvGrpSpPr/>
            <p:nvPr/>
          </p:nvGrpSpPr>
          <p:grpSpPr>
            <a:xfrm>
              <a:off x="2503014" y="3754522"/>
              <a:ext cx="1251507" cy="1251507"/>
              <a:chOff x="0" y="0"/>
              <a:chExt cx="1913890" cy="1913890"/>
            </a:xfrm>
          </p:grpSpPr>
          <p:sp>
            <p:nvSpPr>
              <p:cNvPr id="15" name="Freeform 15"/>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221E34"/>
              </a:solidFill>
            </p:spPr>
          </p:sp>
        </p:grpSp>
        <p:grpSp>
          <p:nvGrpSpPr>
            <p:cNvPr id="16" name="Group 16"/>
            <p:cNvGrpSpPr/>
            <p:nvPr/>
          </p:nvGrpSpPr>
          <p:grpSpPr>
            <a:xfrm>
              <a:off x="3754522" y="1251507"/>
              <a:ext cx="1251507" cy="1251507"/>
              <a:chOff x="0" y="0"/>
              <a:chExt cx="1913890" cy="1913890"/>
            </a:xfrm>
          </p:grpSpPr>
          <p:sp>
            <p:nvSpPr>
              <p:cNvPr id="17" name="Freeform 17"/>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221E34"/>
              </a:solidFill>
            </p:spPr>
          </p:sp>
        </p:grpSp>
        <p:grpSp>
          <p:nvGrpSpPr>
            <p:cNvPr id="18" name="Group 18"/>
            <p:cNvGrpSpPr/>
            <p:nvPr/>
          </p:nvGrpSpPr>
          <p:grpSpPr>
            <a:xfrm>
              <a:off x="1251507" y="3754522"/>
              <a:ext cx="1251507" cy="1251507"/>
              <a:chOff x="0" y="0"/>
              <a:chExt cx="1913890" cy="1913890"/>
            </a:xfrm>
          </p:grpSpPr>
          <p:sp>
            <p:nvSpPr>
              <p:cNvPr id="19" name="Freeform 19"/>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221E34"/>
              </a:solidFill>
            </p:spPr>
          </p:sp>
        </p:grpSp>
        <p:grpSp>
          <p:nvGrpSpPr>
            <p:cNvPr id="20" name="Group 20"/>
            <p:cNvGrpSpPr/>
            <p:nvPr/>
          </p:nvGrpSpPr>
          <p:grpSpPr>
            <a:xfrm>
              <a:off x="3754522" y="0"/>
              <a:ext cx="1251507" cy="1251507"/>
              <a:chOff x="0" y="0"/>
              <a:chExt cx="1913890" cy="1913890"/>
            </a:xfrm>
          </p:grpSpPr>
          <p:sp>
            <p:nvSpPr>
              <p:cNvPr id="21" name="Freeform 21"/>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FFFFFF"/>
              </a:solidFill>
            </p:spPr>
          </p:sp>
        </p:grpSp>
        <p:grpSp>
          <p:nvGrpSpPr>
            <p:cNvPr id="22" name="Group 22"/>
            <p:cNvGrpSpPr/>
            <p:nvPr/>
          </p:nvGrpSpPr>
          <p:grpSpPr>
            <a:xfrm>
              <a:off x="0" y="3754522"/>
              <a:ext cx="1251507" cy="1251507"/>
              <a:chOff x="0" y="0"/>
              <a:chExt cx="1913890" cy="1913890"/>
            </a:xfrm>
          </p:grpSpPr>
          <p:sp>
            <p:nvSpPr>
              <p:cNvPr id="23" name="Freeform 23"/>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221E34"/>
              </a:solidFill>
            </p:spPr>
          </p:sp>
        </p:grpSp>
        <p:grpSp>
          <p:nvGrpSpPr>
            <p:cNvPr id="24" name="Group 24"/>
            <p:cNvGrpSpPr/>
            <p:nvPr/>
          </p:nvGrpSpPr>
          <p:grpSpPr>
            <a:xfrm>
              <a:off x="2503014" y="1251507"/>
              <a:ext cx="1251507" cy="1251507"/>
              <a:chOff x="0" y="0"/>
              <a:chExt cx="1913890" cy="1913890"/>
            </a:xfrm>
          </p:grpSpPr>
          <p:sp>
            <p:nvSpPr>
              <p:cNvPr id="25" name="Freeform 25"/>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000000">
                  <a:alpha val="0"/>
                </a:srgbClr>
              </a:solidFill>
            </p:spPr>
          </p:sp>
        </p:grpSp>
      </p:grpSp>
      <p:grpSp>
        <p:nvGrpSpPr>
          <p:cNvPr id="26" name="Group 26"/>
          <p:cNvGrpSpPr/>
          <p:nvPr/>
        </p:nvGrpSpPr>
        <p:grpSpPr>
          <a:xfrm rot="-10800000">
            <a:off x="0" y="0"/>
            <a:ext cx="3754522" cy="3754522"/>
            <a:chOff x="0" y="0"/>
            <a:chExt cx="5006029" cy="5006029"/>
          </a:xfrm>
        </p:grpSpPr>
        <p:grpSp>
          <p:nvGrpSpPr>
            <p:cNvPr id="27" name="Group 27"/>
            <p:cNvGrpSpPr/>
            <p:nvPr/>
          </p:nvGrpSpPr>
          <p:grpSpPr>
            <a:xfrm>
              <a:off x="2503014" y="2503014"/>
              <a:ext cx="1251507" cy="1251507"/>
              <a:chOff x="0" y="0"/>
              <a:chExt cx="1913890" cy="1913890"/>
            </a:xfrm>
          </p:grpSpPr>
          <p:sp>
            <p:nvSpPr>
              <p:cNvPr id="28" name="Freeform 28"/>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221E34"/>
              </a:solidFill>
            </p:spPr>
          </p:sp>
        </p:grpSp>
        <p:grpSp>
          <p:nvGrpSpPr>
            <p:cNvPr id="29" name="Group 29"/>
            <p:cNvGrpSpPr/>
            <p:nvPr/>
          </p:nvGrpSpPr>
          <p:grpSpPr>
            <a:xfrm>
              <a:off x="2503014" y="1251507"/>
              <a:ext cx="1251507" cy="1251507"/>
              <a:chOff x="0" y="0"/>
              <a:chExt cx="1913890" cy="1913890"/>
            </a:xfrm>
          </p:grpSpPr>
          <p:sp>
            <p:nvSpPr>
              <p:cNvPr id="30" name="Freeform 30"/>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221E34"/>
              </a:solidFill>
            </p:spPr>
          </p:sp>
        </p:grpSp>
        <p:grpSp>
          <p:nvGrpSpPr>
            <p:cNvPr id="31" name="Group 31"/>
            <p:cNvGrpSpPr/>
            <p:nvPr/>
          </p:nvGrpSpPr>
          <p:grpSpPr>
            <a:xfrm>
              <a:off x="1251507" y="2503014"/>
              <a:ext cx="1251507" cy="1251507"/>
              <a:chOff x="0" y="0"/>
              <a:chExt cx="1913890" cy="1913890"/>
            </a:xfrm>
          </p:grpSpPr>
          <p:sp>
            <p:nvSpPr>
              <p:cNvPr id="32" name="Freeform 32"/>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FFFFFF"/>
              </a:solidFill>
            </p:spPr>
          </p:sp>
        </p:grpSp>
        <p:grpSp>
          <p:nvGrpSpPr>
            <p:cNvPr id="33" name="Group 33"/>
            <p:cNvGrpSpPr/>
            <p:nvPr/>
          </p:nvGrpSpPr>
          <p:grpSpPr>
            <a:xfrm>
              <a:off x="3754522" y="3754522"/>
              <a:ext cx="1251507" cy="1251507"/>
              <a:chOff x="0" y="0"/>
              <a:chExt cx="1913890" cy="1913890"/>
            </a:xfrm>
          </p:grpSpPr>
          <p:sp>
            <p:nvSpPr>
              <p:cNvPr id="34" name="Freeform 34"/>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221E34"/>
              </a:solidFill>
            </p:spPr>
          </p:sp>
        </p:grpSp>
        <p:grpSp>
          <p:nvGrpSpPr>
            <p:cNvPr id="35" name="Group 35"/>
            <p:cNvGrpSpPr/>
            <p:nvPr/>
          </p:nvGrpSpPr>
          <p:grpSpPr>
            <a:xfrm>
              <a:off x="3754522" y="2503014"/>
              <a:ext cx="1251507" cy="1251507"/>
              <a:chOff x="0" y="0"/>
              <a:chExt cx="1913890" cy="1913890"/>
            </a:xfrm>
          </p:grpSpPr>
          <p:sp>
            <p:nvSpPr>
              <p:cNvPr id="36" name="Freeform 36"/>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FFFFFF"/>
              </a:solidFill>
            </p:spPr>
          </p:sp>
        </p:grpSp>
        <p:grpSp>
          <p:nvGrpSpPr>
            <p:cNvPr id="37" name="Group 37"/>
            <p:cNvGrpSpPr/>
            <p:nvPr/>
          </p:nvGrpSpPr>
          <p:grpSpPr>
            <a:xfrm>
              <a:off x="2503014" y="3754522"/>
              <a:ext cx="1251507" cy="1251507"/>
              <a:chOff x="0" y="0"/>
              <a:chExt cx="1913890" cy="1913890"/>
            </a:xfrm>
          </p:grpSpPr>
          <p:sp>
            <p:nvSpPr>
              <p:cNvPr id="38" name="Freeform 38"/>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221E34"/>
              </a:solidFill>
            </p:spPr>
          </p:sp>
        </p:grpSp>
        <p:grpSp>
          <p:nvGrpSpPr>
            <p:cNvPr id="39" name="Group 39"/>
            <p:cNvGrpSpPr/>
            <p:nvPr/>
          </p:nvGrpSpPr>
          <p:grpSpPr>
            <a:xfrm>
              <a:off x="3754522" y="1251507"/>
              <a:ext cx="1251507" cy="1251507"/>
              <a:chOff x="0" y="0"/>
              <a:chExt cx="1913890" cy="1913890"/>
            </a:xfrm>
          </p:grpSpPr>
          <p:sp>
            <p:nvSpPr>
              <p:cNvPr id="40" name="Freeform 40"/>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221E34"/>
              </a:solidFill>
            </p:spPr>
          </p:sp>
        </p:grpSp>
        <p:grpSp>
          <p:nvGrpSpPr>
            <p:cNvPr id="41" name="Group 41"/>
            <p:cNvGrpSpPr/>
            <p:nvPr/>
          </p:nvGrpSpPr>
          <p:grpSpPr>
            <a:xfrm>
              <a:off x="1251507" y="3754522"/>
              <a:ext cx="1251507" cy="1251507"/>
              <a:chOff x="0" y="0"/>
              <a:chExt cx="1913890" cy="1913890"/>
            </a:xfrm>
          </p:grpSpPr>
          <p:sp>
            <p:nvSpPr>
              <p:cNvPr id="42" name="Freeform 42"/>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221E34"/>
              </a:solidFill>
            </p:spPr>
          </p:sp>
        </p:grpSp>
        <p:grpSp>
          <p:nvGrpSpPr>
            <p:cNvPr id="43" name="Group 43"/>
            <p:cNvGrpSpPr/>
            <p:nvPr/>
          </p:nvGrpSpPr>
          <p:grpSpPr>
            <a:xfrm>
              <a:off x="3754522" y="0"/>
              <a:ext cx="1251507" cy="1251507"/>
              <a:chOff x="0" y="0"/>
              <a:chExt cx="1913890" cy="1913890"/>
            </a:xfrm>
          </p:grpSpPr>
          <p:sp>
            <p:nvSpPr>
              <p:cNvPr id="44" name="Freeform 44"/>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FFFFFF"/>
              </a:solidFill>
            </p:spPr>
          </p:sp>
        </p:grpSp>
        <p:grpSp>
          <p:nvGrpSpPr>
            <p:cNvPr id="45" name="Group 45"/>
            <p:cNvGrpSpPr/>
            <p:nvPr/>
          </p:nvGrpSpPr>
          <p:grpSpPr>
            <a:xfrm>
              <a:off x="0" y="3754522"/>
              <a:ext cx="1251507" cy="1251507"/>
              <a:chOff x="0" y="0"/>
              <a:chExt cx="1913890" cy="1913890"/>
            </a:xfrm>
          </p:grpSpPr>
          <p:sp>
            <p:nvSpPr>
              <p:cNvPr id="46" name="Freeform 46"/>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221E34"/>
              </a:solidFill>
            </p:spPr>
          </p:sp>
        </p:grpSp>
        <p:grpSp>
          <p:nvGrpSpPr>
            <p:cNvPr id="47" name="Group 47"/>
            <p:cNvGrpSpPr/>
            <p:nvPr/>
          </p:nvGrpSpPr>
          <p:grpSpPr>
            <a:xfrm>
              <a:off x="2503014" y="1251507"/>
              <a:ext cx="1251507" cy="1251507"/>
              <a:chOff x="0" y="0"/>
              <a:chExt cx="1913890" cy="1913890"/>
            </a:xfrm>
          </p:grpSpPr>
          <p:sp>
            <p:nvSpPr>
              <p:cNvPr id="48" name="Freeform 48"/>
              <p:cNvSpPr/>
              <p:nvPr/>
            </p:nvSpPr>
            <p:spPr>
              <a:xfrm>
                <a:off x="0" y="0"/>
                <a:ext cx="1913890" cy="1913890"/>
              </a:xfrm>
              <a:custGeom>
                <a:avLst/>
                <a:gdLst/>
                <a:ahLst/>
                <a:cxnLst/>
                <a:rect l="l" t="t" r="r" b="b"/>
                <a:pathLst>
                  <a:path w="1913890" h="1913890">
                    <a:moveTo>
                      <a:pt x="0" y="0"/>
                    </a:moveTo>
                    <a:lnTo>
                      <a:pt x="1913890" y="0"/>
                    </a:lnTo>
                    <a:lnTo>
                      <a:pt x="1913890" y="1913890"/>
                    </a:lnTo>
                    <a:lnTo>
                      <a:pt x="0" y="1913890"/>
                    </a:lnTo>
                    <a:close/>
                  </a:path>
                </a:pathLst>
              </a:custGeom>
              <a:solidFill>
                <a:srgbClr val="000000">
                  <a:alpha val="0"/>
                </a:srgbClr>
              </a:solidFill>
            </p:spPr>
          </p:sp>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6562</TotalTime>
  <Words>1345</Words>
  <Application>Microsoft Office PowerPoint</Application>
  <PresentationFormat>Custom</PresentationFormat>
  <Paragraphs>159</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Now Bold</vt:lpstr>
      <vt:lpstr>Now</vt:lpstr>
      <vt:lpstr>Arial</vt:lpstr>
      <vt:lpstr>Raleway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 july 29, 2025</dc:title>
  <cp:lastModifiedBy>Tanisha Sodani</cp:lastModifiedBy>
  <cp:revision>3</cp:revision>
  <dcterms:created xsi:type="dcterms:W3CDTF">2006-08-16T00:00:00Z</dcterms:created>
  <dcterms:modified xsi:type="dcterms:W3CDTF">2025-07-26T13:42:12Z</dcterms:modified>
  <dc:identifier>DAGrQstipec</dc:identifier>
</cp:coreProperties>
</file>